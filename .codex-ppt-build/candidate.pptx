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416e5a77cf43b0" /><Relationship Type="http://schemas.openxmlformats.org/officeDocument/2006/relationships/extended-properties" Target="/docProps/app.xml" Id="Rf1d8f7ba95e543a2" /><Relationship Type="http://schemas.openxmlformats.org/officeDocument/2006/relationships/officeDocument" Target="/ppt/presentation.xml" Id="Rcf59732ab2574d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09a4981f1a4148"/>
  </p:sldMasterIdLst>
  <p:notesMasterIdLst>
    <p:notesMasterId xmlns:r="http://schemas.openxmlformats.org/officeDocument/2006/relationships" r:id="Rf4b8149371cd407c"/>
  </p:notesMasterIdLst>
  <p:sldIdLst>
    <p:sldId xmlns:r="http://schemas.openxmlformats.org/officeDocument/2006/relationships" id="256" r:id="Rbe21d9bfe6d8406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8c5dd23269478d" /><Relationship Type="http://schemas.openxmlformats.org/officeDocument/2006/relationships/slideMaster" Target="/ppt/slideMasters/slideMaster1.xml" Id="Re209a4981f1a4148" /><Relationship Type="http://schemas.openxmlformats.org/officeDocument/2006/relationships/notesMaster" Target="/ppt/notesMasters/notesMaster1.xml" Id="Rf4b8149371cd407c" /><Relationship Type="http://schemas.openxmlformats.org/officeDocument/2006/relationships/presProps" Target="/ppt/presProps.xml" Id="R49bec2bc496b4faa" /><Relationship Type="http://schemas.openxmlformats.org/officeDocument/2006/relationships/tableStyles" Target="/ppt/tableStyles.xml" Id="R4bed1dc7075a4f55" /><Relationship Type="http://schemas.openxmlformats.org/officeDocument/2006/relationships/slide" Target="/ppt/slides/slide1.xml" Id="Rbe21d9bfe6d840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70486e2bf646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f6b8180a0b4101" /><Relationship Type="http://schemas.openxmlformats.org/officeDocument/2006/relationships/notesMaster" Target="/ppt/notesMasters/notesMaster1.xml" Id="R5e4a97511a1249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依据当前仓库代码及 docs/pipeline.md 绘制。主要来源：README.md 架构章节；geoagent/orchestration/runner.py::run、_dispatch、_do_tikz_agent、_compile_version、_do_critic；geoagent/state/schemas.py。图中横向箭头表示典型信息流程，非硬编码执行顺序；CV 工具可由 Supervisor 或 Geometry Agent 调用。编译与渲染由 Runner 在 TikZ 生成后自动执行。Critic 输出问题清单，由 Supervisor 决定修复或结束；预算耗尽时也可能停止。GES 为共享状态，编译、版本、评审和轨迹均写入。参考 LaTeX 运行期间对 Agent 隔离。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5bae69ca6d49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0f2c9c3f3840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aabad911c4a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bef240bfc548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45ed5eb4314a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76cd00e64640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B7F0B9-7FC5-4F60-9F42-B92BF5AC53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A0210D9-16BF-41EC-BF10-48C9EEDAB3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1607906-DDD6-4ED8-A843-FCD0F7131F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93AE81-2FB5-4675-9487-8197B35CEE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6D9E10D-51FB-4A6F-88AB-6F3732210C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F32672C-5A8E-49D0-B310-3E174A278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C49E77-30BD-47AE-803B-F11606F0A7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8837495-EF1A-4350-912F-A873D9228C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C6709E-B674-4880-B89C-7F783B5233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77C59B-0541-47CE-B7EA-AAB06F6C08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1f4aa72300454c" /><Relationship Type="http://schemas.openxmlformats.org/officeDocument/2006/relationships/slideLayout" Target="/ppt/slideLayouts/slideLayout1.xml" Id="Ra371464efe7b41a7" /><Relationship Type="http://schemas.openxmlformats.org/officeDocument/2006/relationships/slideLayout" Target="/ppt/slideLayouts/slideLayout2.xml" Id="R1977acb6b3324bb2" /><Relationship Type="http://schemas.openxmlformats.org/officeDocument/2006/relationships/slideLayout" Target="/ppt/slideLayouts/slideLayout3.xml" Id="R2ba1cb9ad0404149" /><Relationship Type="http://schemas.openxmlformats.org/officeDocument/2006/relationships/slideLayout" Target="/ppt/slideLayouts/slideLayout4.xml" Id="R55a913553980471d" /><Relationship Type="http://schemas.openxmlformats.org/officeDocument/2006/relationships/slideLayout" Target="/ppt/slideLayouts/slideLayout5.xml" Id="Rba9faea26a4f4a47" /><Relationship Type="http://schemas.openxmlformats.org/officeDocument/2006/relationships/slideLayout" Target="/ppt/slideLayouts/slideLayout6.xml" Id="Re059587bec6a4e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71464efe7b41a7"/>
    <p:sldLayoutId xmlns:r="http://schemas.openxmlformats.org/officeDocument/2006/relationships" id="2147483650" r:id="R1977acb6b3324bb2"/>
    <p:sldLayoutId xmlns:r="http://schemas.openxmlformats.org/officeDocument/2006/relationships" id="2147483651" r:id="R2ba1cb9ad0404149"/>
    <p:sldLayoutId xmlns:r="http://schemas.openxmlformats.org/officeDocument/2006/relationships" id="2147483652" r:id="R55a913553980471d"/>
    <p:sldLayoutId xmlns:r="http://schemas.openxmlformats.org/officeDocument/2006/relationships" id="2147483653" r:id="Rba9faea26a4f4a47"/>
    <p:sldLayoutId xmlns:r="http://schemas.openxmlformats.org/officeDocument/2006/relationships" id="2147483654" r:id="Re059587bec6a4e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43314a2bcf4740" /><Relationship Type="http://schemas.openxmlformats.org/officeDocument/2006/relationships/notesSlide" Target="/ppt/notesSlides/notesSlide1.xml" Id="R20ceee5b156743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eoAgent 系统架构">
            <a:extLst xmlns:a="http://schemas.openxmlformats.org/drawingml/2006/main">
              <a:ext uri="{FF2B5EF4-FFF2-40B4-BE49-F238E27FC236}">
                <a16:creationId xmlns:a16="http://schemas.microsoft.com/office/drawing/2014/main" id="{748ED69D-A249-4386-A498-BA459D9B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GeoAgent 系统架构</a:t>
            </a:r>
          </a:p>
        </p:txBody>
      </p:sp>
      <p:sp>
        <p:nvSpPr>
          <p:cNvPr id="2" name="平面几何图 → 可编译 TikZ；由 Supervisor 调度，以共享证据支撑迭代修复">
            <a:extLst xmlns:a="http://schemas.openxmlformats.org/drawingml/2006/main">
              <a:ext uri="{FF2B5EF4-FFF2-40B4-BE49-F238E27FC236}">
                <a16:creationId xmlns:a16="http://schemas.microsoft.com/office/drawing/2014/main" id="{86F68077-C395-4EF5-8016-A5D07848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00965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平面几何图 → 可编译 TikZ；由 Supervisor 调度，以共享证据支撑迭代修复</a:t>
            </a:r>
          </a:p>
        </p:txBody>
      </p:sp>
      <p:sp>
        <p:nvSpPr>
          <p:cNvPr id="3" name="输入">
            <a:extLst xmlns:a="http://schemas.openxmlformats.org/drawingml/2006/main">
              <a:ext uri="{FF2B5EF4-FFF2-40B4-BE49-F238E27FC236}">
                <a16:creationId xmlns:a16="http://schemas.microsoft.com/office/drawing/2014/main" id="{0201EC61-2944-457E-B6E7-CCDDBBC3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2524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5CEDA"/>
            </a:solidFill>
          </a:ln>
        </p:spPr>
      </p:sp>
      <p:sp>
        <p:nvSpPr>
          <p:cNvPr id="4" name="几何图像">
            <a:extLst xmlns:a="http://schemas.openxmlformats.org/drawingml/2006/main">
              <a:ext uri="{FF2B5EF4-FFF2-40B4-BE49-F238E27FC236}">
                <a16:creationId xmlns:a16="http://schemas.microsoft.com/office/drawing/2014/main" id="{E66C3249-1619-4FE4-8854-89563A4B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145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几何图像</a:t>
            </a:r>
          </a:p>
        </p:txBody>
      </p:sp>
      <p:sp>
        <p:nvSpPr>
          <p:cNvPr id="5" name="测试集 / 上传">
            <a:extLst xmlns:a="http://schemas.openxmlformats.org/drawingml/2006/main">
              <a:ext uri="{FF2B5EF4-FFF2-40B4-BE49-F238E27FC236}">
                <a16:creationId xmlns:a16="http://schemas.microsoft.com/office/drawing/2014/main" id="{679073CD-2B01-4C6D-88B0-4EF6AD4E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05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测试集 / 上传</a:t>
            </a:r>
          </a:p>
        </p:txBody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D1F5D-9E5B-4848-8368-46D35F29C24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48000" y="22574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  <a:tailEnd type="triangle" w="med" len="med"/>
          </a:ln>
        </p:spPr>
      </p:cxnSp>
      <p:sp>
        <p:nvSpPr>
          <p:cNvPr id="7" name="Supervisor">
            <a:extLst xmlns:a="http://schemas.openxmlformats.org/drawingml/2006/main">
              <a:ext uri="{FF2B5EF4-FFF2-40B4-BE49-F238E27FC236}">
                <a16:creationId xmlns:a16="http://schemas.microsoft.com/office/drawing/2014/main" id="{EDAEFE78-D972-41C1-91AF-78086E75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66875"/>
            <a:ext cx="11049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53F"/>
          </a:solidFill>
          <a:ln xmlns:a="http://schemas.openxmlformats.org/drawingml/2006/main" w="15240">
            <a:solidFill>
              <a:srgbClr val="12253F"/>
            </a:solidFill>
          </a:ln>
        </p:spPr>
      </p:sp>
      <p:sp>
        <p:nvSpPr>
          <p:cNvPr id="8" name="Supervisor · 统一调度">
            <a:extLst xmlns:a="http://schemas.openxmlformats.org/drawingml/2006/main">
              <a:ext uri="{FF2B5EF4-FFF2-40B4-BE49-F238E27FC236}">
                <a16:creationId xmlns:a16="http://schemas.microsoft.com/office/drawing/2014/main" id="{BB4BF583-C317-47F5-B8C0-29849D51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Supervisor · 统一调度</a:t>
            </a:r>
          </a:p>
        </p:txBody>
      </p:sp>
      <p:sp>
        <p:nvSpPr>
          <p:cNvPr id="9" name="按证据选择动作 · 每步一个工具调用 · 控制步数 / Token / 视觉调用 / 超时预算">
            <a:extLst xmlns:a="http://schemas.openxmlformats.org/drawingml/2006/main">
              <a:ext uri="{FF2B5EF4-FFF2-40B4-BE49-F238E27FC236}">
                <a16:creationId xmlns:a16="http://schemas.microsoft.com/office/drawing/2014/main" id="{109BD364-F079-465F-BD2A-E5E5A5C4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336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3F3"/>
                </a:solidFill>
                <a:latin typeface="Microsoft YaHei"/>
                <a:ea typeface="Microsoft YaHei"/>
                <a:cs typeface="Microsoft YaHei"/>
              </a:rPr>
              <a:t>按证据选择动作 · 每步一个工具调用 · 控制步数 / Token / 视觉调用 / 超时预算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43146-2FDF-4862-A308-0C1E761359C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239250" y="2857500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5523C-50C2-4FE8-B51F-68AFB002D6C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14500" y="3133725"/>
            <a:ext cx="1185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B0E9D-13F9-480A-B993-E09A996A445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14500" y="3133725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DB427-DA94-4522-BFEF-D97B83F9F34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67250" y="3133725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7EDC6-27A3-40AC-B524-A616D8B9A53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0" y="3133725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66D20-0827-418D-84CC-D3F41286238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73125" y="3133725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  <a:tailEnd type="triangle" w="med" len="med"/>
          </a:ln>
        </p:spPr>
      </p:cxnSp>
      <p:sp>
        <p:nvSpPr>
          <p:cNvPr id="16" name="调度">
            <a:extLst xmlns:a="http://schemas.openxmlformats.org/drawingml/2006/main">
              <a:ext uri="{FF2B5EF4-FFF2-40B4-BE49-F238E27FC236}">
                <a16:creationId xmlns:a16="http://schemas.microsoft.com/office/drawing/2014/main" id="{27E60009-1474-44E0-A2B5-F607A99D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956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67AD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</p:txBody>
      </p:sp>
      <p:sp>
        <p:nvSpPr>
          <p:cNvPr id="17" name="本地 CV 工具">
            <a:extLst xmlns:a="http://schemas.openxmlformats.org/drawingml/2006/main">
              <a:ext uri="{FF2B5EF4-FFF2-40B4-BE49-F238E27FC236}">
                <a16:creationId xmlns:a16="http://schemas.microsoft.com/office/drawing/2014/main" id="{B11E00E4-EFC7-4F0C-85FE-F6F34EEF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67125"/>
            <a:ext cx="24288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367AD"/>
            </a:solidFill>
          </a:ln>
        </p:spPr>
      </p:sp>
      <p:sp>
        <p:nvSpPr>
          <p:cNvPr id="18" name="本地 CV 工具">
            <a:extLst xmlns:a="http://schemas.openxmlformats.org/drawingml/2006/main">
              <a:ext uri="{FF2B5EF4-FFF2-40B4-BE49-F238E27FC236}">
                <a16:creationId xmlns:a16="http://schemas.microsoft.com/office/drawing/2014/main" id="{4798D750-F0D2-4461-B40D-8C3F56D8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本地 CV 工具</a:t>
            </a:r>
          </a:p>
        </p:txBody>
      </p:sp>
      <p:sp>
        <p:nvSpPr>
          <p:cNvPr id="19" name="检测线 / 圆 / 标签&#10;提取位置与样式证据">
            <a:extLst xmlns:a="http://schemas.openxmlformats.org/drawingml/2006/main">
              <a:ext uri="{FF2B5EF4-FFF2-40B4-BE49-F238E27FC236}">
                <a16:creationId xmlns:a16="http://schemas.microsoft.com/office/drawing/2014/main" id="{30CD509B-B389-4720-9F91-DD22A7FA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检测线 / 圆 / 标签</a:t>
            </a:r>
          </a:p>
          <a:p xmlns:a="http://schemas.openxmlformats.org/drawingml/2006/main">
            <a: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提取位置与样式证据</a:t>
            </a:r>
          </a:p>
        </p:txBody>
      </p:sp>
      <p:sp>
        <p:nvSpPr>
          <p:cNvPr id="20" name="Geometry Agent">
            <a:extLst xmlns:a="http://schemas.openxmlformats.org/drawingml/2006/main">
              <a:ext uri="{FF2B5EF4-FFF2-40B4-BE49-F238E27FC236}">
                <a16:creationId xmlns:a16="http://schemas.microsoft.com/office/drawing/2014/main" id="{323FABE8-716F-4C2B-93BB-7787DEFC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67125"/>
            <a:ext cx="24288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367AD"/>
            </a:solidFill>
          </a:ln>
        </p:spPr>
      </p:sp>
      <p:sp>
        <p:nvSpPr>
          <p:cNvPr id="21" name="Geometry Agent">
            <a:extLst xmlns:a="http://schemas.openxmlformats.org/drawingml/2006/main">
              <a:ext uri="{FF2B5EF4-FFF2-40B4-BE49-F238E27FC236}">
                <a16:creationId xmlns:a16="http://schemas.microsoft.com/office/drawing/2014/main" id="{6FCFA344-BA76-4576-941D-E5951269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81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Geometry Agent</a:t>
            </a:r>
          </a:p>
        </p:txBody>
      </p:sp>
      <p:sp>
        <p:nvSpPr>
          <p:cNvPr id="22" name="合并几何对象与关系&#10;处理标签绑定与冲突">
            <a:extLst xmlns:a="http://schemas.openxmlformats.org/drawingml/2006/main">
              <a:ext uri="{FF2B5EF4-FFF2-40B4-BE49-F238E27FC236}">
                <a16:creationId xmlns:a16="http://schemas.microsoft.com/office/drawing/2014/main" id="{20F7F22D-50F7-4B2A-A254-9FFD94D0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9575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合并几何对象与关系</a:t>
            </a:r>
          </a:p>
          <a:p xmlns:a="http://schemas.openxmlformats.org/drawingml/2006/main">
            <a: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处理标签绑定与冲突</a:t>
            </a:r>
          </a:p>
        </p:txBody>
      </p:sp>
      <p:sp>
        <p:nvSpPr>
          <p:cNvPr id="23" name="TikZ Agent">
            <a:extLst xmlns:a="http://schemas.openxmlformats.org/drawingml/2006/main">
              <a:ext uri="{FF2B5EF4-FFF2-40B4-BE49-F238E27FC236}">
                <a16:creationId xmlns:a16="http://schemas.microsoft.com/office/drawing/2014/main" id="{8FAAFA24-A9CE-4CA5-8058-5DFE2F0D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67125"/>
            <a:ext cx="24288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367AD"/>
            </a:solidFill>
          </a:ln>
        </p:spPr>
      </p:sp>
      <p:sp>
        <p:nvSpPr>
          <p:cNvPr id="24" name="TikZ Agent">
            <a:extLst xmlns:a="http://schemas.openxmlformats.org/drawingml/2006/main">
              <a:ext uri="{FF2B5EF4-FFF2-40B4-BE49-F238E27FC236}">
                <a16:creationId xmlns:a16="http://schemas.microsoft.com/office/drawing/2014/main" id="{6A2EA1C5-8747-44E5-8BAF-9160B74C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81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TikZ Agent</a:t>
            </a:r>
          </a:p>
        </p:txBody>
      </p:sp>
      <p:sp>
        <p:nvSpPr>
          <p:cNvPr id="25" name="生成 / 修复 TikZ&#10;输出完整 LaTeX 文档">
            <a:extLst xmlns:a="http://schemas.openxmlformats.org/drawingml/2006/main">
              <a:ext uri="{FF2B5EF4-FFF2-40B4-BE49-F238E27FC236}">
                <a16:creationId xmlns:a16="http://schemas.microsoft.com/office/drawing/2014/main" id="{72115FF6-28D3-4AA2-A218-925FB4F0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9575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生成 / 修复 TikZ</a:t>
            </a:r>
          </a:p>
          <a:p xmlns:a="http://schemas.openxmlformats.org/drawingml/2006/main">
            <a: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输出完整 LaTeX 文档</a:t>
            </a:r>
          </a:p>
        </p:txBody>
      </p:sp>
      <p:sp>
        <p:nvSpPr>
          <p:cNvPr id="26" name="编译与渲染">
            <a:extLst xmlns:a="http://schemas.openxmlformats.org/drawingml/2006/main">
              <a:ext uri="{FF2B5EF4-FFF2-40B4-BE49-F238E27FC236}">
                <a16:creationId xmlns:a16="http://schemas.microsoft.com/office/drawing/2014/main" id="{51614C2C-0AE0-4E4D-A8A5-15B72435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67125"/>
            <a:ext cx="24288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15240">
            <a:solidFill>
              <a:srgbClr val="A7B4C5"/>
            </a:solidFill>
          </a:ln>
        </p:spPr>
      </p:sp>
      <p:sp>
        <p:nvSpPr>
          <p:cNvPr id="27" name="编译与渲染">
            <a:extLst xmlns:a="http://schemas.openxmlformats.org/drawingml/2006/main">
              <a:ext uri="{FF2B5EF4-FFF2-40B4-BE49-F238E27FC236}">
                <a16:creationId xmlns:a16="http://schemas.microsoft.com/office/drawing/2014/main" id="{EBE8F5E8-5024-407B-9D14-2579805D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81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编译与渲染</a:t>
            </a:r>
          </a:p>
        </p:txBody>
      </p:sp>
      <p:sp>
        <p:nvSpPr>
          <p:cNvPr id="28" name="Tectonic 编译 → PDF&#10;渲染 PNG · 结构校验">
            <a:extLst xmlns:a="http://schemas.openxmlformats.org/drawingml/2006/main">
              <a:ext uri="{FF2B5EF4-FFF2-40B4-BE49-F238E27FC236}">
                <a16:creationId xmlns:a16="http://schemas.microsoft.com/office/drawing/2014/main" id="{0B73DF35-17A4-4EB2-8E02-4E8BF519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9575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Tectonic 编译 → PDF</a:t>
            </a:r>
          </a:p>
          <a:p xmlns:a="http://schemas.openxmlformats.org/drawingml/2006/main">
            <a: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渲染 PNG · 结构校验</a:t>
            </a:r>
          </a:p>
        </p:txBody>
      </p:sp>
      <p:sp>
        <p:nvSpPr>
          <p:cNvPr id="29" name="Critic Agent">
            <a:extLst xmlns:a="http://schemas.openxmlformats.org/drawingml/2006/main">
              <a:ext uri="{FF2B5EF4-FFF2-40B4-BE49-F238E27FC236}">
                <a16:creationId xmlns:a16="http://schemas.microsoft.com/office/drawing/2014/main" id="{E28628DE-EA47-49C6-916D-D03B125C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3667125"/>
            <a:ext cx="24288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367AD"/>
            </a:solidFill>
          </a:ln>
        </p:spPr>
      </p:sp>
      <p:sp>
        <p:nvSpPr>
          <p:cNvPr id="30" name="Critic Agent">
            <a:extLst xmlns:a="http://schemas.openxmlformats.org/drawingml/2006/main">
              <a:ext uri="{FF2B5EF4-FFF2-40B4-BE49-F238E27FC236}">
                <a16:creationId xmlns:a16="http://schemas.microsoft.com/office/drawing/2014/main" id="{6CE9712A-C1A7-472F-9582-2A3BA091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781425"/>
            <a:ext cx="214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253F"/>
                </a:solidFill>
                <a:latin typeface="Microsoft YaHei"/>
                <a:ea typeface="Microsoft YaHei"/>
                <a:cs typeface="Microsoft YaHei"/>
              </a:rPr>
              <a:t>Critic Agent</a:t>
            </a:r>
          </a:p>
        </p:txBody>
      </p:sp>
      <p:sp>
        <p:nvSpPr>
          <p:cNvPr id="31" name="原图 vs 渲染图&#10;核对对象 · 定位差异">
            <a:extLst xmlns:a="http://schemas.openxmlformats.org/drawingml/2006/main">
              <a:ext uri="{FF2B5EF4-FFF2-40B4-BE49-F238E27FC236}">
                <a16:creationId xmlns:a16="http://schemas.microsoft.com/office/drawing/2014/main" id="{A65C89BC-0E2D-4463-8568-BBD9100E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219575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原图 vs 渲染图</a:t>
            </a:r>
          </a:p>
          <a:p xmlns:a="http://schemas.openxmlformats.org/drawingml/2006/main">
            <a: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核对对象 · 定位差异</a:t>
            </a:r>
          </a:p>
        </p:txBody>
      </p: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81C603-CD4D-47E8-B807-DDE9025765B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52750" y="43053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  <a:tailEnd type="triangle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753D6A-15B0-43D8-91C6-97DC9CA40D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05500" y="43053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  <a:tailEnd type="triangle" w="med" len="me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1E7ED7-014B-4DF9-8503-58CF8AA22C4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858250" y="43053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  <a:tailEnd type="triangle" w="med" len="me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674519-7C01-4A7C-ACEC-A6FF588EDBB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811000" y="43053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367AD"/>
            </a:solidFill>
            <a:prstDash val="solid"/>
            <a:tailEnd type="triangle" w="med" len="med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FE60D2-369A-47AC-8D82-7F19C522D8F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192125" y="495300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36C30"/>
            </a:solidFill>
            <a:prstDash val="soli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32E84F-2326-4828-9864-91B90C4B3EFA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620000" y="5448300"/>
            <a:ext cx="5572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36C30"/>
            </a:solidFill>
            <a:prstDash val="solid"/>
            <a:tailEnd type="triangle" w="med" len="med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828869-8D46-46B6-A380-08A89743073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620000" y="495300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36C30"/>
            </a:solidFill>
            <a:prstDash val="solid"/>
            <a:tailEnd type="triangle" w="med" len="me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A70E03-B66F-4294-9560-3CF7712BAED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14500" y="4953000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9AAABE"/>
            </a:solidFill>
            <a:prstDash val="dash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5D9F6C-1F17-4C1F-BC8F-A56215D61AB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67250" y="4953000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9AAABE"/>
            </a:solidFill>
            <a:prstDash val="dash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B0BE47-CCCB-4F41-8901-63B29274875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53375" y="4953000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9AAABE"/>
            </a:solidFill>
            <a:prstDash val="dash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F09595-4707-4CB5-A5FE-212CE707E7B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572750" y="4953000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9AAABE"/>
            </a:solidFill>
            <a:prstDash val="dash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50EDFB-D154-4EE6-AA7B-F1DC6F86172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287500" y="4953000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9AAABE"/>
            </a:solidFill>
            <a:prstDash val="dash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010E51-6773-4531-AB24-56EF6FB206E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14500" y="6057900"/>
            <a:ext cx="125730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9AAABE"/>
            </a:solidFill>
            <a:prstDash val="dash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B685A5-4A20-49F3-83A9-1FD8CEE7E63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91250" y="60579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9AAABE"/>
            </a:solidFill>
            <a:prstDash val="dash"/>
            <a:headEnd type="triangle" w="med" len="med"/>
            <a:tailEnd type="triangle" w="med" len="med"/>
          </a:ln>
        </p:spPr>
      </p:cxnSp>
      <p:sp>
        <p:nvSpPr>
          <p:cNvPr id="46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C5CFF131-0C21-4360-87D5-7D303D78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57800"/>
            <a:ext cx="3095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5240">
            <a:solidFill>
              <a:srgbClr val="F8FAFC"/>
            </a:solidFill>
          </a:ln>
        </p:spPr>
      </p:sp>
      <p:sp>
        <p:nvSpPr>
          <p:cNvPr id="47" name="需修复：差异反馈给 TikZ">
            <a:extLst xmlns:a="http://schemas.openxmlformats.org/drawingml/2006/main">
              <a:ext uri="{FF2B5EF4-FFF2-40B4-BE49-F238E27FC236}">
                <a16:creationId xmlns:a16="http://schemas.microsoft.com/office/drawing/2014/main" id="{5C1B2F0B-F41C-44A9-A59E-8A23B38C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276850"/>
            <a:ext cx="300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36C30"/>
                </a:solidFill>
                <a:latin typeface="Microsoft YaHei"/>
                <a:ea typeface="Microsoft YaHei"/>
                <a:cs typeface="Microsoft YaHei"/>
              </a:rPr>
              <a:t>需修复：差异反馈给 TikZ</a:t>
            </a:r>
          </a:p>
        </p:txBody>
      </p:sp>
      <p:sp>
        <p:nvSpPr>
          <p:cNvPr id="48" name="各模块共享读写">
            <a:extLst xmlns:a="http://schemas.openxmlformats.org/drawingml/2006/main">
              <a:ext uri="{FF2B5EF4-FFF2-40B4-BE49-F238E27FC236}">
                <a16:creationId xmlns:a16="http://schemas.microsoft.com/office/drawing/2014/main" id="{39E69DF6-69ED-4BF8-AA89-C3EC4EC7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153150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各模块共享读写</a:t>
            </a:r>
          </a:p>
        </p:txBody>
      </p:sp>
      <p:sp>
        <p:nvSpPr>
          <p:cNvPr id="49" name="GES">
            <a:extLst xmlns:a="http://schemas.openxmlformats.org/drawingml/2006/main">
              <a:ext uri="{FF2B5EF4-FFF2-40B4-BE49-F238E27FC236}">
                <a16:creationId xmlns:a16="http://schemas.microsoft.com/office/drawing/2014/main" id="{4384A1FE-DB71-4B60-A066-BBC2C102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72250"/>
            <a:ext cx="1076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15240">
            <a:solidFill>
              <a:srgbClr val="94B7BC"/>
            </a:solidFill>
          </a:ln>
        </p:spPr>
      </p:sp>
      <p:sp>
        <p:nvSpPr>
          <p:cNvPr id="50" name="GES · 共享几何证据状态">
            <a:extLst xmlns:a="http://schemas.openxmlformats.org/drawingml/2006/main">
              <a:ext uri="{FF2B5EF4-FFF2-40B4-BE49-F238E27FC236}">
                <a16:creationId xmlns:a16="http://schemas.microsoft.com/office/drawing/2014/main" id="{7E6CA69B-C505-444B-B391-772C1463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rPr>
              <a:t>GES · 共享几何证据状态</a:t>
            </a:r>
          </a:p>
        </p:txBody>
      </p:sp>
      <p:sp>
        <p:nvSpPr>
          <p:cNvPr id="51" name="对象 / 关系 / 标签 / 证据 / 冲突  ·  TikZ 版本 / 编译结果 / 评审报告  ·  预算与执行轨迹">
            <a:extLst xmlns:a="http://schemas.openxmlformats.org/drawingml/2006/main">
              <a:ext uri="{FF2B5EF4-FFF2-40B4-BE49-F238E27FC236}">
                <a16:creationId xmlns:a16="http://schemas.microsoft.com/office/drawing/2014/main" id="{FF5D55F9-5571-4113-B9B3-7736E55A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104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对象 / 关系 / 标签 / 证据 / 冲突  ·  TikZ 版本 / 编译结果 / 评审报告  ·  预算与执行轨迹</a:t>
            </a:r>
          </a:p>
        </p:txBody>
      </p: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A57196-4A20-4E09-B3AA-3E56C30E192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25500" y="4953000"/>
            <a:ext cx="0" cy="1619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47C80"/>
            </a:solidFill>
            <a:prstDash val="solid"/>
            <a:tailEnd type="triangle" w="med" len="med"/>
          </a:ln>
        </p:spPr>
      </p:cxnSp>
      <p:sp>
        <p:nvSpPr>
          <p:cNvPr id="53" name="输出">
            <a:extLst xmlns:a="http://schemas.openxmlformats.org/drawingml/2006/main">
              <a:ext uri="{FF2B5EF4-FFF2-40B4-BE49-F238E27FC236}">
                <a16:creationId xmlns:a16="http://schemas.microsoft.com/office/drawing/2014/main" id="{2ECE7471-F45D-4FCA-BC58-19B6F09A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6572250"/>
            <a:ext cx="24288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0"/>
          </a:solidFill>
          <a:ln xmlns:a="http://schemas.openxmlformats.org/drawingml/2006/main" w="15240">
            <a:solidFill>
              <a:srgbClr val="82B2A2"/>
            </a:solidFill>
          </a:ln>
        </p:spPr>
      </p:sp>
      <p:sp>
        <p:nvSpPr>
          <p:cNvPr id="54" name="最佳版本输出">
            <a:extLst xmlns:a="http://schemas.openxmlformats.org/drawingml/2006/main">
              <a:ext uri="{FF2B5EF4-FFF2-40B4-BE49-F238E27FC236}">
                <a16:creationId xmlns:a16="http://schemas.microsoft.com/office/drawing/2014/main" id="{DF601DD3-DD99-4CFB-B4B0-25F03FCA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66960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7C80"/>
                </a:solidFill>
                <a:latin typeface="Microsoft YaHei"/>
                <a:ea typeface="Microsoft YaHei"/>
                <a:cs typeface="Microsoft YaHei"/>
              </a:rPr>
              <a:t>最佳版本输出</a:t>
            </a:r>
          </a:p>
        </p:txBody>
      </p:sp>
      <p:sp>
        <p:nvSpPr>
          <p:cNvPr id="55" name="TikZ / PDF / PNG&#10;状态与日志">
            <a:extLst xmlns:a="http://schemas.openxmlformats.org/drawingml/2006/main">
              <a:ext uri="{FF2B5EF4-FFF2-40B4-BE49-F238E27FC236}">
                <a16:creationId xmlns:a16="http://schemas.microsoft.com/office/drawing/2014/main" id="{6BA8D13F-6268-439B-BDDA-CCCCC4FF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71342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TikZ / PDF / PNG</a:t>
            </a:r>
          </a:p>
          <a:p xmlns:a="http://schemas.openxmlformats.org/drawingml/2006/main">
            <a:pPr algn="l">
              <a:def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状态与日志</a:t>
            </a:r>
          </a:p>
        </p:txBody>
      </p:sp>
      <p:sp>
        <p:nvSpPr>
          <p:cNvPr id="56" name="按质量与预算结束">
            <a:extLst xmlns:a="http://schemas.openxmlformats.org/drawingml/2006/main">
              <a:ext uri="{FF2B5EF4-FFF2-40B4-BE49-F238E27FC236}">
                <a16:creationId xmlns:a16="http://schemas.microsoft.com/office/drawing/2014/main" id="{50165940-F8D8-49E0-87ED-FE04E4E3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867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按质量与预算结束</a:t>
            </a:r>
          </a:p>
        </p:txBody>
      </p:sp>
      <p:sp>
        <p:nvSpPr>
          <p:cNvPr id="57" name="蓝色：调度与主流程    橙色：修复反馈    灰色虚线：共享状态">
            <a:extLst xmlns:a="http://schemas.openxmlformats.org/drawingml/2006/main">
              <a:ext uri="{FF2B5EF4-FFF2-40B4-BE49-F238E27FC236}">
                <a16:creationId xmlns:a16="http://schemas.microsoft.com/office/drawing/2014/main" id="{90A9FF1B-79AF-4270-BE2A-C7DB41ED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972425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A80"/>
                </a:solidFill>
                <a:latin typeface="Microsoft YaHei"/>
                <a:ea typeface="Microsoft YaHei"/>
                <a:cs typeface="Microsoft YaHei"/>
              </a:rPr>
              <a:t>蓝色：调度与主流程    橙色：修复反馈    灰色虚线：共享状态</a:t>
            </a:r>
          </a:p>
        </p:txBody>
      </p:sp>
    </p:spTree>
    <p:extLst>
      <p:ext uri="{BB962C8B-B14F-4D97-AF65-F5344CB8AC3E}">
        <p14:creationId xmlns:p14="http://schemas.microsoft.com/office/powerpoint/2010/main" val="9175383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2026-10-31T02:56:17.8540000Z</dcterms:created>
  <dcterms:modified xsi:type="dcterms:W3CDTF">2026-10-31T02:56:17.8540000Z</dcterms:modified>
</coreProperties>
</file>