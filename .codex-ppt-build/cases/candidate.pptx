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c2742a2e3547f3" /><Relationship Type="http://schemas.openxmlformats.org/officeDocument/2006/relationships/extended-properties" Target="/docProps/app.xml" Id="Re542a41cd23c4c79" /><Relationship Type="http://schemas.openxmlformats.org/officeDocument/2006/relationships/officeDocument" Target="/ppt/presentation.xml" Id="Rc5be057c1c7046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4c2c1af0ce40d1"/>
  </p:sldMasterIdLst>
  <p:notesMasterIdLst>
    <p:notesMasterId xmlns:r="http://schemas.openxmlformats.org/officeDocument/2006/relationships" r:id="R7c8c0f078db54bad"/>
  </p:notesMasterIdLst>
  <p:sldIdLst>
    <p:sldId xmlns:r="http://schemas.openxmlformats.org/officeDocument/2006/relationships" id="256" r:id="R3d79b6f4b9084239"/>
    <p:sldId xmlns:r="http://schemas.openxmlformats.org/officeDocument/2006/relationships" id="257" r:id="R8e2114cbeddc40fc"/>
    <p:sldId xmlns:r="http://schemas.openxmlformats.org/officeDocument/2006/relationships" id="258" r:id="R8fae2141d41541cf"/>
    <p:sldId xmlns:r="http://schemas.openxmlformats.org/officeDocument/2006/relationships" id="259" r:id="R44a0f08d4ff548d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3366672b8a4070" /><Relationship Type="http://schemas.openxmlformats.org/officeDocument/2006/relationships/slideMaster" Target="/ppt/slideMasters/slideMaster1.xml" Id="Ra34c2c1af0ce40d1" /><Relationship Type="http://schemas.openxmlformats.org/officeDocument/2006/relationships/notesMaster" Target="/ppt/notesMasters/notesMaster1.xml" Id="R7c8c0f078db54bad" /><Relationship Type="http://schemas.openxmlformats.org/officeDocument/2006/relationships/presProps" Target="/ppt/presProps.xml" Id="R3620d9b0a44742b6" /><Relationship Type="http://schemas.openxmlformats.org/officeDocument/2006/relationships/tableStyles" Target="/ppt/tableStyles.xml" Id="Ra3b00332512441d8" /><Relationship Type="http://schemas.openxmlformats.org/officeDocument/2006/relationships/slide" Target="/ppt/slides/slide1.xml" Id="R3d79b6f4b9084239" /><Relationship Type="http://schemas.openxmlformats.org/officeDocument/2006/relationships/slide" Target="/ppt/slides/slide2.xml" Id="R8e2114cbeddc40fc" /><Relationship Type="http://schemas.openxmlformats.org/officeDocument/2006/relationships/slide" Target="/ppt/slides/slide3.xml" Id="R8fae2141d41541cf" /><Relationship Type="http://schemas.openxmlformats.org/officeDocument/2006/relationships/slide" Target="/ppt/slides/slide4.xml" Id="R44a0f08d4ff548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03700ca74146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93e5b34da64501" /><Relationship Type="http://schemas.openxmlformats.org/officeDocument/2006/relationships/notesMaster" Target="/ppt/notesMasters/notesMaster1.xml" Id="R4225927ecd4b47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441f1417c74eeb" /><Relationship Type="http://schemas.openxmlformats.org/officeDocument/2006/relationships/notesMaster" Target="/ppt/notesMasters/notesMaster1.xml" Id="R1d6cc9eedd0140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261d17993d400e" /><Relationship Type="http://schemas.openxmlformats.org/officeDocument/2006/relationships/notesMaster" Target="/ppt/notesMasters/notesMaster1.xml" Id="Rcaa073fcb8c648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314649b41d4980" /><Relationship Type="http://schemas.openxmlformats.org/officeDocument/2006/relationships/notesMaster" Target="/ppt/notesMasters/notesMaster1.xml" Id="R4c4fe1ec7d7946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依据当前仓库代码及 docs/pipeline.md 绘制。主要来源：README.md 架构章节；geoagent/orchestration/runner.py::run、_dispatch、_do_tikz_agent、_compile_version、_do_critic；geoagent/state/schemas.py。图中横向箭头表示典型信息流程，非硬编码执行顺序；CV 工具可由 Supervisor 或 Geometry Agent 调用。编译与渲染由 Runner 在 TikZ 生成后自动执行。Critic 输出问题清单，由 Supervisor 决定修复或结束；预算耗尽时也可能停止。GES 为共享状态，编译、版本、评审和轨迹均写入。参考 LaTeX 运行期间对 Agent 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来源：D:/Users/18217/Desktop/我的文件/GeoAgent/outputs/case_studies/6984_q_fig1/timeline.md、case.json，以及同目录原始阶段图。版本分数：v1=0.90，v2=0.90，v3=0.95；best_version=3。CV 检测与原图视觉检查后提交几何，修复主要针对 F 标签侧别与圆/AB 线宽。v2 将圆和 AB 设为 0.8pt，仍偏细；v3 设为 1.4pt，弦为 0.6pt。共14 steps。 所有图像为该案例真实输入、CV 叠加或 TikZ 编译渲染产物。图中 GES 对象/关系数为素材归档状态的汇总，不表示每个阶段当时数量。每个 TikZ 版本均编译成功；生成与修复后都先编译、渲染，再由 Critic 对比原图。Critic 分数 assessment_score 为内部启发式信号。参考 LaTeX 运行期间对 Agent 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来源：D:/Users/18217/Desktop/我的文件/GeoAgent/outputs/case_studies/403_q_fig1/timeline.md、case.json，以及同目录原始阶段图。完整分数轨迹：v1=0.45→v2=0.88→v3=0.88→v4=0.86→v5=0.90。共18步、5次编译/评审。step8 inspect_image复核原图是否存在圆弧；step9删除全部圆弧并补齐CD；之后调整E上方虚线延伸。step15 finish因中度问题被拒绝，之后生成v5。v5仍有一条low问题（E上方虚线稍长），没有宣称零误差。best_version=5。 所有图像为该案例真实输入、CV 叠加或 TikZ 编译渲染产物。图中 GES 对象/关系数为素材归档状态的汇总，不表示每个阶段当时数量。每个 TikZ 版本均编译成功；生成与修复后都先编译、渲染，再由 Critic 对比原图。Critic 分数 assessment_score 为内部启发式信号。参考 LaTeX 运行期间对 Agent 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Users/18217/Desktop/我的文件/GeoAgent/outputs/case_studies/1260_q_fig2/timeline.md、case.json，以及同目录原始阶段图。v1分数0.85，Critic发现FG虚线(high)及G标签(medium)缺失。Supervisor让TikZ把AF方向延长到BC上G点；v2补画虚线FG及G标签，再编译、评审，分数0.93，best_version=2。最终报告未列问题。所有图片使用case_studies中的00_input.png、v1.png、v2.png。 所有图像为该案例真实输入、CV 叠加或 TikZ 编译渲染产物。图中 GES 对象/关系数为素材归档状态的汇总，不表示每个阶段当时数量。每个 TikZ 版本均编译成功；生成与修复后都先编译、渲染，再由 Critic 对比原图。Critic 分数 assessment_score 为内部启发式信号。参考 LaTeX 运行期间对 Agent 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d2e1570f241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66f9c94774f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3052a3f9e48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de336bdbc4e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db7f681594d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e66dbf7df40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B7F0B9-7FC5-4F60-9F42-B92BF5AC5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0210D9-16BF-41EC-BF10-48C9EEDAB3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607906-DDD6-4ED8-A843-FCD0F7131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93AE81-2FB5-4675-9487-8197B35CE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D9E10D-51FB-4A6F-88AB-6F3732210C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32672C-5A8E-49D0-B310-3E174A278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C49E77-30BD-47AE-803B-F11606F0A7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837495-EF1A-4350-912F-A873D9228C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C6709E-B674-4880-B89C-7F783B5233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77C59B-0541-47CE-B7EA-AAB06F6C08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aa66115144451c" /><Relationship Type="http://schemas.openxmlformats.org/officeDocument/2006/relationships/slideLayout" Target="/ppt/slideLayouts/slideLayout1.xml" Id="R401eff4c66b847e1" /><Relationship Type="http://schemas.openxmlformats.org/officeDocument/2006/relationships/slideLayout" Target="/ppt/slideLayouts/slideLayout2.xml" Id="R22c0449680ce4243" /><Relationship Type="http://schemas.openxmlformats.org/officeDocument/2006/relationships/slideLayout" Target="/ppt/slideLayouts/slideLayout3.xml" Id="R1c3c0f0bce6744f0" /><Relationship Type="http://schemas.openxmlformats.org/officeDocument/2006/relationships/slideLayout" Target="/ppt/slideLayouts/slideLayout4.xml" Id="Rb0c0f0d242fe4b50" /><Relationship Type="http://schemas.openxmlformats.org/officeDocument/2006/relationships/slideLayout" Target="/ppt/slideLayouts/slideLayout5.xml" Id="Ree315f85f40947b5" /><Relationship Type="http://schemas.openxmlformats.org/officeDocument/2006/relationships/slideLayout" Target="/ppt/slideLayouts/slideLayout6.xml" Id="Rec20017955ca44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1eff4c66b847e1"/>
    <p:sldLayoutId xmlns:r="http://schemas.openxmlformats.org/officeDocument/2006/relationships" id="2147483650" r:id="R22c0449680ce4243"/>
    <p:sldLayoutId xmlns:r="http://schemas.openxmlformats.org/officeDocument/2006/relationships" id="2147483651" r:id="R1c3c0f0bce6744f0"/>
    <p:sldLayoutId xmlns:r="http://schemas.openxmlformats.org/officeDocument/2006/relationships" id="2147483652" r:id="Rb0c0f0d242fe4b50"/>
    <p:sldLayoutId xmlns:r="http://schemas.openxmlformats.org/officeDocument/2006/relationships" id="2147483653" r:id="Ree315f85f40947b5"/>
    <p:sldLayoutId xmlns:r="http://schemas.openxmlformats.org/officeDocument/2006/relationships" id="2147483654" r:id="Rec20017955ca44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d3f3f332f4723" /><Relationship Type="http://schemas.openxmlformats.org/officeDocument/2006/relationships/notesSlide" Target="/ppt/notesSlides/notesSlide1.xml" Id="R2d8862008ca845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6caa4b40142f4" /><Relationship Type="http://schemas.openxmlformats.org/officeDocument/2006/relationships/image" Target="/ppt/media/image.png" Id="Rdef106052b3740d5" /><Relationship Type="http://schemas.openxmlformats.org/officeDocument/2006/relationships/image" Target="/ppt/media/image2.png" Id="R6e95257adfec4f71" /><Relationship Type="http://schemas.openxmlformats.org/officeDocument/2006/relationships/image" Target="/ppt/media/image3.png" Id="Rd379a4c9b4ac46aa" /><Relationship Type="http://schemas.openxmlformats.org/officeDocument/2006/relationships/image" Target="/ppt/media/image4.png" Id="R6ce603fddcb04366" /><Relationship Type="http://schemas.openxmlformats.org/officeDocument/2006/relationships/image" Target="/ppt/media/image5.png" Id="R06322017dddd4063" /><Relationship Type="http://schemas.openxmlformats.org/officeDocument/2006/relationships/notesSlide" Target="/ppt/notesSlides/notesSlide2.xml" Id="R3ec381832cd448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80c6ff402e48f3" /><Relationship Type="http://schemas.openxmlformats.org/officeDocument/2006/relationships/image" Target="/ppt/media/image6.png" Id="R292652ea98e04ce3" /><Relationship Type="http://schemas.openxmlformats.org/officeDocument/2006/relationships/image" Target="/ppt/media/image7.png" Id="R17dacbc2553a4dd3" /><Relationship Type="http://schemas.openxmlformats.org/officeDocument/2006/relationships/image" Target="/ppt/media/image8.png" Id="R19dcbfb028f64f8d" /><Relationship Type="http://schemas.openxmlformats.org/officeDocument/2006/relationships/image" Target="/ppt/media/image9.png" Id="R7e0764e804b6412e" /><Relationship Type="http://schemas.openxmlformats.org/officeDocument/2006/relationships/image" Target="/ppt/media/image10.png" Id="R4fbca575973b4b01" /><Relationship Type="http://schemas.openxmlformats.org/officeDocument/2006/relationships/notesSlide" Target="/ppt/notesSlides/notesSlide3.xml" Id="R689f3d68d9ea4b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8ca265b734203" /><Relationship Type="http://schemas.openxmlformats.org/officeDocument/2006/relationships/image" Target="/ppt/media/image11.png" Id="Ra3f59091bebc4b02" /><Relationship Type="http://schemas.openxmlformats.org/officeDocument/2006/relationships/image" Target="/ppt/media/image12.png" Id="Rca94bc63d4794615" /><Relationship Type="http://schemas.openxmlformats.org/officeDocument/2006/relationships/image" Target="/ppt/media/image13.png" Id="R7cd2c2a5b99942c0" /><Relationship Type="http://schemas.openxmlformats.org/officeDocument/2006/relationships/notesSlide" Target="/ppt/notesSlides/notesSlide4.xml" Id="Refe4d69c147e49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eoAgent 系统架构">
            <a:extLst xmlns:a="http://schemas.openxmlformats.org/drawingml/2006/main">
              <a:ext uri="{FF2B5EF4-FFF2-40B4-BE49-F238E27FC236}">
                <a16:creationId xmlns:a16="http://schemas.microsoft.com/office/drawing/2014/main" id="{748ED69D-A249-4386-A498-BA459D9B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GeoAgent 系统架构</a:t>
            </a:r>
          </a:p>
        </p:txBody>
      </p:sp>
      <p:sp>
        <p:nvSpPr>
          <p:cNvPr id="2" name="平面几何图 → 可编译 TikZ；由 Supervisor 调度，以共享证据支撑迭代修复">
            <a:extLst xmlns:a="http://schemas.openxmlformats.org/drawingml/2006/main">
              <a:ext uri="{FF2B5EF4-FFF2-40B4-BE49-F238E27FC236}">
                <a16:creationId xmlns:a16="http://schemas.microsoft.com/office/drawing/2014/main" id="{86F68077-C395-4EF5-8016-A5D07848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0965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平面几何图 → 可编译 TikZ；由 Supervisor 调度，以共享证据支撑迭代修复</a:t>
            </a:r>
          </a:p>
        </p:txBody>
      </p:sp>
      <p:sp>
        <p:nvSpPr>
          <p:cNvPr id="3" name="输入">
            <a:extLst xmlns:a="http://schemas.openxmlformats.org/drawingml/2006/main">
              <a:ext uri="{FF2B5EF4-FFF2-40B4-BE49-F238E27FC236}">
                <a16:creationId xmlns:a16="http://schemas.microsoft.com/office/drawing/2014/main" id="{0201EC61-2944-457E-B6E7-CCDDBBC3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524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5CEDA"/>
            </a:solidFill>
          </a:ln>
        </p:spPr>
      </p:sp>
      <p:sp>
        <p:nvSpPr>
          <p:cNvPr id="4" name="几何图像">
            <a:extLst xmlns:a="http://schemas.openxmlformats.org/drawingml/2006/main">
              <a:ext uri="{FF2B5EF4-FFF2-40B4-BE49-F238E27FC236}">
                <a16:creationId xmlns:a16="http://schemas.microsoft.com/office/drawing/2014/main" id="{E66C3249-1619-4FE4-8854-89563A4B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145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几何图像</a:t>
            </a:r>
          </a:p>
        </p:txBody>
      </p:sp>
      <p:sp>
        <p:nvSpPr>
          <p:cNvPr id="5" name="测试集 / 上传">
            <a:extLst xmlns:a="http://schemas.openxmlformats.org/drawingml/2006/main">
              <a:ext uri="{FF2B5EF4-FFF2-40B4-BE49-F238E27FC236}">
                <a16:creationId xmlns:a16="http://schemas.microsoft.com/office/drawing/2014/main" id="{679073CD-2B01-4C6D-88B0-4EF6AD4E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05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测试集 / 上传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19163-9827-4DF8-BAE0-C979280FC63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48000" y="22574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sp>
        <p:nvSpPr>
          <p:cNvPr id="7" name="Supervisor">
            <a:extLst xmlns:a="http://schemas.openxmlformats.org/drawingml/2006/main">
              <a:ext uri="{FF2B5EF4-FFF2-40B4-BE49-F238E27FC236}">
                <a16:creationId xmlns:a16="http://schemas.microsoft.com/office/drawing/2014/main" id="{EDAEFE78-D972-41C1-91AF-78086E75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66875"/>
            <a:ext cx="11049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3F"/>
          </a:solidFill>
          <a:ln xmlns:a="http://schemas.openxmlformats.org/drawingml/2006/main" w="15240">
            <a:solidFill>
              <a:srgbClr val="12253F"/>
            </a:solidFill>
          </a:ln>
        </p:spPr>
      </p:sp>
      <p:sp>
        <p:nvSpPr>
          <p:cNvPr id="8" name="Supervisor · 统一调度">
            <a:extLst xmlns:a="http://schemas.openxmlformats.org/drawingml/2006/main">
              <a:ext uri="{FF2B5EF4-FFF2-40B4-BE49-F238E27FC236}">
                <a16:creationId xmlns:a16="http://schemas.microsoft.com/office/drawing/2014/main" id="{BB4BF583-C317-47F5-B8C0-29849D51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Supervisor · 统一调度</a:t>
            </a:r>
          </a:p>
        </p:txBody>
      </p:sp>
      <p:sp>
        <p:nvSpPr>
          <p:cNvPr id="9" name="按证据选择动作 · 每步一个工具调用 · 控制步数 / Token / 视觉调用 / 超时预算">
            <a:extLst xmlns:a="http://schemas.openxmlformats.org/drawingml/2006/main">
              <a:ext uri="{FF2B5EF4-FFF2-40B4-BE49-F238E27FC236}">
                <a16:creationId xmlns:a16="http://schemas.microsoft.com/office/drawing/2014/main" id="{109BD364-F079-465F-BD2A-E5E5A5C4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33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rPr>
              <a:t>按证据选择动作 · 每步一个工具调用 · 控制步数 / Token / 视觉调用 / 超时预算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579F9-DCC6-49D0-A08B-10C1EBA646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39250" y="2857500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01A74-927D-4CB1-95F7-542B74EFEF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4500" y="3133725"/>
            <a:ext cx="1185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C0C1A-6189-40CC-93F0-0D46E6BBA6D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4500" y="3133725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62CA8-BF94-4841-A5A0-8C61A4E53C0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67250" y="3133725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09509-711D-437D-9A2D-DE21ACEA180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0" y="3133725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24583-9476-44ED-B5F1-540C7661B6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73125" y="3133725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sp>
        <p:nvSpPr>
          <p:cNvPr id="16" name="调度">
            <a:extLst xmlns:a="http://schemas.openxmlformats.org/drawingml/2006/main">
              <a:ext uri="{FF2B5EF4-FFF2-40B4-BE49-F238E27FC236}">
                <a16:creationId xmlns:a16="http://schemas.microsoft.com/office/drawing/2014/main" id="{27E60009-1474-44E0-A2B5-F607A99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17" name="本地 CV 工具">
            <a:extLst xmlns:a="http://schemas.openxmlformats.org/drawingml/2006/main">
              <a:ext uri="{FF2B5EF4-FFF2-40B4-BE49-F238E27FC236}">
                <a16:creationId xmlns:a16="http://schemas.microsoft.com/office/drawing/2014/main" id="{B11E00E4-EFC7-4F0C-85FE-F6F34EEF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367AD"/>
            </a:solidFill>
          </a:ln>
        </p:spPr>
      </p:sp>
      <p:sp>
        <p:nvSpPr>
          <p:cNvPr id="18" name="本地 CV 工具">
            <a:extLst xmlns:a="http://schemas.openxmlformats.org/drawingml/2006/main">
              <a:ext uri="{FF2B5EF4-FFF2-40B4-BE49-F238E27FC236}">
                <a16:creationId xmlns:a16="http://schemas.microsoft.com/office/drawing/2014/main" id="{4798D750-F0D2-4461-B40D-8C3F56D8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本地 CV 工具</a:t>
            </a:r>
          </a:p>
        </p:txBody>
      </p:sp>
      <p:sp>
        <p:nvSpPr>
          <p:cNvPr id="19" name="检测线 / 圆 / 标签&#10;提取位置与样式证据">
            <a:extLst xmlns:a="http://schemas.openxmlformats.org/drawingml/2006/main">
              <a:ext uri="{FF2B5EF4-FFF2-40B4-BE49-F238E27FC236}">
                <a16:creationId xmlns:a16="http://schemas.microsoft.com/office/drawing/2014/main" id="{30CD509B-B389-4720-9F91-DD22A7FA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检测线 / 圆 / 标签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提取位置与样式证据</a:t>
            </a:r>
          </a:p>
        </p:txBody>
      </p:sp>
      <p:sp>
        <p:nvSpPr>
          <p:cNvPr id="20" name="Geometry Agent">
            <a:extLst xmlns:a="http://schemas.openxmlformats.org/drawingml/2006/main">
              <a:ext uri="{FF2B5EF4-FFF2-40B4-BE49-F238E27FC236}">
                <a16:creationId xmlns:a16="http://schemas.microsoft.com/office/drawing/2014/main" id="{323FABE8-716F-4C2B-93BB-7787DEFC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67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367AD"/>
            </a:solidFill>
          </a:ln>
        </p:spPr>
      </p:sp>
      <p:sp>
        <p:nvSpPr>
          <p:cNvPr id="21" name="Geometry Agent">
            <a:extLst xmlns:a="http://schemas.openxmlformats.org/drawingml/2006/main">
              <a:ext uri="{FF2B5EF4-FFF2-40B4-BE49-F238E27FC236}">
                <a16:creationId xmlns:a16="http://schemas.microsoft.com/office/drawing/2014/main" id="{6FCFA344-BA76-4576-941D-E5951269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81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Geometry Agent</a:t>
            </a:r>
          </a:p>
        </p:txBody>
      </p:sp>
      <p:sp>
        <p:nvSpPr>
          <p:cNvPr id="22" name="合并几何对象与关系&#10;处理标签绑定与冲突">
            <a:extLst xmlns:a="http://schemas.openxmlformats.org/drawingml/2006/main">
              <a:ext uri="{FF2B5EF4-FFF2-40B4-BE49-F238E27FC236}">
                <a16:creationId xmlns:a16="http://schemas.microsoft.com/office/drawing/2014/main" id="{20F7F22D-50F7-4B2A-A254-9FFD94D0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957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合并几何对象与关系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处理标签绑定与冲突</a:t>
            </a:r>
          </a:p>
        </p:txBody>
      </p:sp>
      <p:sp>
        <p:nvSpPr>
          <p:cNvPr id="23" name="TikZ Agent">
            <a:extLst xmlns:a="http://schemas.openxmlformats.org/drawingml/2006/main">
              <a:ext uri="{FF2B5EF4-FFF2-40B4-BE49-F238E27FC236}">
                <a16:creationId xmlns:a16="http://schemas.microsoft.com/office/drawing/2014/main" id="{8FAAFA24-A9CE-4CA5-8058-5DFE2F0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367AD"/>
            </a:solidFill>
          </a:ln>
        </p:spPr>
      </p:sp>
      <p:sp>
        <p:nvSpPr>
          <p:cNvPr id="24" name="TikZ Agent">
            <a:extLst xmlns:a="http://schemas.openxmlformats.org/drawingml/2006/main">
              <a:ext uri="{FF2B5EF4-FFF2-40B4-BE49-F238E27FC236}">
                <a16:creationId xmlns:a16="http://schemas.microsoft.com/office/drawing/2014/main" id="{6A2EA1C5-8747-44E5-8BAF-9160B74C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81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TikZ Agent</a:t>
            </a:r>
          </a:p>
        </p:txBody>
      </p:sp>
      <p:sp>
        <p:nvSpPr>
          <p:cNvPr id="25" name="生成 / 修复 TikZ&#10;输出完整 LaTeX 文档">
            <a:extLst xmlns:a="http://schemas.openxmlformats.org/drawingml/2006/main">
              <a:ext uri="{FF2B5EF4-FFF2-40B4-BE49-F238E27FC236}">
                <a16:creationId xmlns:a16="http://schemas.microsoft.com/office/drawing/2014/main" id="{72115FF6-28D3-4AA2-A218-925FB4F0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生成 / 修复 TikZ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输出完整 LaTeX 文档</a:t>
            </a:r>
          </a:p>
        </p:txBody>
      </p:sp>
      <p:sp>
        <p:nvSpPr>
          <p:cNvPr id="26" name="编译与渲染">
            <a:extLst xmlns:a="http://schemas.openxmlformats.org/drawingml/2006/main">
              <a:ext uri="{FF2B5EF4-FFF2-40B4-BE49-F238E27FC236}">
                <a16:creationId xmlns:a16="http://schemas.microsoft.com/office/drawing/2014/main" id="{51614C2C-0AE0-4E4D-A8A5-15B72435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67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15240">
            <a:solidFill>
              <a:srgbClr val="A7B4C5"/>
            </a:solidFill>
          </a:ln>
        </p:spPr>
      </p:sp>
      <p:sp>
        <p:nvSpPr>
          <p:cNvPr id="27" name="编译与渲染">
            <a:extLst xmlns:a="http://schemas.openxmlformats.org/drawingml/2006/main">
              <a:ext uri="{FF2B5EF4-FFF2-40B4-BE49-F238E27FC236}">
                <a16:creationId xmlns:a16="http://schemas.microsoft.com/office/drawing/2014/main" id="{EBE8F5E8-5024-407B-9D14-2579805D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81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编译与渲染</a:t>
            </a:r>
          </a:p>
        </p:txBody>
      </p:sp>
      <p:sp>
        <p:nvSpPr>
          <p:cNvPr id="28" name="Tectonic 编译 → PDF&#10;渲染 PNG · 结构校验">
            <a:extLst xmlns:a="http://schemas.openxmlformats.org/drawingml/2006/main">
              <a:ext uri="{FF2B5EF4-FFF2-40B4-BE49-F238E27FC236}">
                <a16:creationId xmlns:a16="http://schemas.microsoft.com/office/drawing/2014/main" id="{0B73DF35-17A4-4EB2-8E02-4E8BF519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957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Tectonic 编译 → PDF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渲染 PNG · 结构校验</a:t>
            </a:r>
          </a:p>
        </p:txBody>
      </p:sp>
      <p:sp>
        <p:nvSpPr>
          <p:cNvPr id="29" name="Critic Agent">
            <a:extLst xmlns:a="http://schemas.openxmlformats.org/drawingml/2006/main">
              <a:ext uri="{FF2B5EF4-FFF2-40B4-BE49-F238E27FC236}">
                <a16:creationId xmlns:a16="http://schemas.microsoft.com/office/drawing/2014/main" id="{E28628DE-EA47-49C6-916D-D03B125C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667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367AD"/>
            </a:solidFill>
          </a:ln>
        </p:spPr>
      </p:sp>
      <p:sp>
        <p:nvSpPr>
          <p:cNvPr id="30" name="Critic Agent">
            <a:extLst xmlns:a="http://schemas.openxmlformats.org/drawingml/2006/main">
              <a:ext uri="{FF2B5EF4-FFF2-40B4-BE49-F238E27FC236}">
                <a16:creationId xmlns:a16="http://schemas.microsoft.com/office/drawing/2014/main" id="{6CE9712A-C1A7-472F-9582-2A3BA091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781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Critic Agent</a:t>
            </a:r>
          </a:p>
        </p:txBody>
      </p:sp>
      <p:sp>
        <p:nvSpPr>
          <p:cNvPr id="31" name="原图 vs 渲染图&#10;核对对象 · 定位差异">
            <a:extLst xmlns:a="http://schemas.openxmlformats.org/drawingml/2006/main">
              <a:ext uri="{FF2B5EF4-FFF2-40B4-BE49-F238E27FC236}">
                <a16:creationId xmlns:a16="http://schemas.microsoft.com/office/drawing/2014/main" id="{A65C89BC-0E2D-4463-8568-BBD9100E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21957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原图 vs 渲染图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核对对象 · 定位差异</a:t>
            </a:r>
          </a:p>
        </p:txBody>
      </p: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B5EBE4-135F-4DCE-AC33-0BACDE9E9F3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52750" y="43053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C75920-7739-4214-B556-516A767BAC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0" y="43053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7C4940-3D49-449A-944B-1E5D4A2416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58250" y="43053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AA5EDB-CFB9-469F-BE4A-546A1D58FC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0" y="43053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27D175-CF39-46E7-8515-0D01E7F5A9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192125" y="49530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36C30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1FFDD0-2CC0-4FAF-9F6C-3B3278523992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620000" y="5448300"/>
            <a:ext cx="5572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36C30"/>
            </a:solidFill>
            <a:prstDash val="solid"/>
            <a:tailEnd type="triangle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ABA775-AD64-4E79-8673-50507530FB6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620000" y="49530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36C30"/>
            </a:solidFill>
            <a:prstDash val="solid"/>
            <a:tailEnd type="triangl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617DE-D348-4157-9894-6F73E61890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4500" y="49530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545D4F-8497-4A13-9CBD-3760F7E302B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67250" y="49530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F1FD54-79A1-4908-A6EB-3AFC439B8F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53375" y="49530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784C64-C87A-4B05-A0DC-FB103DB78C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72750" y="49530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E2D3E3-21F4-44FE-B09A-EAFA94D6DA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287500" y="49530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EF8DF3-E1E3-4476-846D-7E7C53A9B0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4500" y="6057900"/>
            <a:ext cx="125730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963428-1C5B-4A2B-A4CD-E82A5AD621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91250" y="60579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46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C5CFF131-0C21-4360-87D5-7D303D78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57800"/>
            <a:ext cx="3095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F8FAFC"/>
            </a:solidFill>
          </a:ln>
        </p:spPr>
      </p:sp>
      <p:sp>
        <p:nvSpPr>
          <p:cNvPr id="47" name="需修复：差异反馈给 TikZ">
            <a:extLst xmlns:a="http://schemas.openxmlformats.org/drawingml/2006/main">
              <a:ext uri="{FF2B5EF4-FFF2-40B4-BE49-F238E27FC236}">
                <a16:creationId xmlns:a16="http://schemas.microsoft.com/office/drawing/2014/main" id="{5C1B2F0B-F41C-44A9-A59E-8A23B38C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27685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需修复：差异反馈给 TikZ</a:t>
            </a:r>
          </a:p>
        </p:txBody>
      </p:sp>
      <p:sp>
        <p:nvSpPr>
          <p:cNvPr id="48" name="各模块共享读写">
            <a:extLst xmlns:a="http://schemas.openxmlformats.org/drawingml/2006/main">
              <a:ext uri="{FF2B5EF4-FFF2-40B4-BE49-F238E27FC236}">
                <a16:creationId xmlns:a16="http://schemas.microsoft.com/office/drawing/2014/main" id="{39E69DF6-69ED-4BF8-AA89-C3EC4EC7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15315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各模块共享读写</a:t>
            </a:r>
          </a:p>
        </p:txBody>
      </p:sp>
      <p:sp>
        <p:nvSpPr>
          <p:cNvPr id="49" name="GES">
            <a:extLst xmlns:a="http://schemas.openxmlformats.org/drawingml/2006/main">
              <a:ext uri="{FF2B5EF4-FFF2-40B4-BE49-F238E27FC236}">
                <a16:creationId xmlns:a16="http://schemas.microsoft.com/office/drawing/2014/main" id="{4384A1FE-DB71-4B60-A066-BBC2C102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1076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15240">
            <a:solidFill>
              <a:srgbClr val="94B7BC"/>
            </a:solidFill>
          </a:ln>
        </p:spPr>
      </p:sp>
      <p:sp>
        <p:nvSpPr>
          <p:cNvPr id="50" name="GES · 共享几何证据状态">
            <a:extLst xmlns:a="http://schemas.openxmlformats.org/drawingml/2006/main">
              <a:ext uri="{FF2B5EF4-FFF2-40B4-BE49-F238E27FC236}">
                <a16:creationId xmlns:a16="http://schemas.microsoft.com/office/drawing/2014/main" id="{7E6CA69B-C505-444B-B391-772C1463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GES · 共享几何证据状态</a:t>
            </a:r>
          </a:p>
        </p:txBody>
      </p:sp>
      <p:sp>
        <p:nvSpPr>
          <p:cNvPr id="51" name="对象 / 关系 / 标签 / 证据 / 冲突  ·  TikZ 版本 / 编译结果 / 评审报告  ·  预算与执行轨迹">
            <a:extLst xmlns:a="http://schemas.openxmlformats.org/drawingml/2006/main">
              <a:ext uri="{FF2B5EF4-FFF2-40B4-BE49-F238E27FC236}">
                <a16:creationId xmlns:a16="http://schemas.microsoft.com/office/drawing/2014/main" id="{FF5D55F9-5571-4113-B9B3-7736E55A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104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对象 / 关系 / 标签 / 证据 / 冲突  ·  TikZ 版本 / 编译结果 / 评审报告  ·  预算与执行轨迹</a:t>
            </a:r>
          </a:p>
        </p:txBody>
      </p: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B9D12D-B3F4-499F-BA65-81F9AD24718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25500" y="4953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47C80"/>
            </a:solidFill>
            <a:prstDash val="solid"/>
            <a:tailEnd type="triangle" w="med" len="med"/>
          </a:ln>
        </p:spPr>
      </p:cxnSp>
      <p:sp>
        <p:nvSpPr>
          <p:cNvPr id="53" name="输出">
            <a:extLst xmlns:a="http://schemas.openxmlformats.org/drawingml/2006/main">
              <a:ext uri="{FF2B5EF4-FFF2-40B4-BE49-F238E27FC236}">
                <a16:creationId xmlns:a16="http://schemas.microsoft.com/office/drawing/2014/main" id="{2ECE7471-F45D-4FCA-BC58-19B6F09A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572250"/>
            <a:ext cx="2428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5240">
            <a:solidFill>
              <a:srgbClr val="82B2A2"/>
            </a:solidFill>
          </a:ln>
        </p:spPr>
      </p:sp>
      <p:sp>
        <p:nvSpPr>
          <p:cNvPr id="54" name="最佳版本输出">
            <a:extLst xmlns:a="http://schemas.openxmlformats.org/drawingml/2006/main">
              <a:ext uri="{FF2B5EF4-FFF2-40B4-BE49-F238E27FC236}">
                <a16:creationId xmlns:a16="http://schemas.microsoft.com/office/drawing/2014/main" id="{DF601DD3-DD99-4CFB-B4B0-25F03FCA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66960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最佳版本输出</a:t>
            </a:r>
          </a:p>
        </p:txBody>
      </p:sp>
      <p:sp>
        <p:nvSpPr>
          <p:cNvPr id="55" name="TikZ / PDF / PNG&#10;状态与日志">
            <a:extLst xmlns:a="http://schemas.openxmlformats.org/drawingml/2006/main">
              <a:ext uri="{FF2B5EF4-FFF2-40B4-BE49-F238E27FC236}">
                <a16:creationId xmlns:a16="http://schemas.microsoft.com/office/drawing/2014/main" id="{6BA8D13F-6268-439B-BDDA-CCCCC4FF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71342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TikZ / PDF / PNG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状态与日志</a:t>
            </a:r>
          </a:p>
        </p:txBody>
      </p:sp>
      <p:sp>
        <p:nvSpPr>
          <p:cNvPr id="56" name="按质量与预算结束">
            <a:extLst xmlns:a="http://schemas.openxmlformats.org/drawingml/2006/main">
              <a:ext uri="{FF2B5EF4-FFF2-40B4-BE49-F238E27FC236}">
                <a16:creationId xmlns:a16="http://schemas.microsoft.com/office/drawing/2014/main" id="{50165940-F8D8-49E0-87ED-FE04E4E3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867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按质量与预算结束</a:t>
            </a:r>
          </a:p>
        </p:txBody>
      </p:sp>
      <p:sp>
        <p:nvSpPr>
          <p:cNvPr id="57" name="蓝色：调度与主流程    橙色：修复反馈    灰色虚线：共享状态">
            <a:extLst xmlns:a="http://schemas.openxmlformats.org/drawingml/2006/main">
              <a:ext uri="{FF2B5EF4-FFF2-40B4-BE49-F238E27FC236}">
                <a16:creationId xmlns:a16="http://schemas.microsoft.com/office/drawing/2014/main" id="{90A9FF1B-79AF-4270-BE2A-C7DB41ED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97242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蓝色：调度与主流程    橙色：修复反馈    灰色虚线：共享状态</a:t>
            </a:r>
          </a:p>
        </p:txBody>
      </p:sp>
    </p:spTree>
    <p:extLst>
      <p:ext uri="{BB962C8B-B14F-4D97-AF65-F5344CB8AC3E}">
        <p14:creationId xmlns:p14="http://schemas.microsoft.com/office/powerpoint/2010/main" val="917538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案例一｜圆与弦：从几何证据到样式修复">
            <a:extLst xmlns:a="http://schemas.openxmlformats.org/drawingml/2006/main">
              <a:ext uri="{FF2B5EF4-FFF2-40B4-BE49-F238E27FC236}">
                <a16:creationId xmlns:a16="http://schemas.microsoft.com/office/drawing/2014/main" id="{0497E515-D08B-47E0-84C7-3D0BC281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419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案例一｜圆与弦：从几何证据到样式修复</a:t>
            </a:r>
          </a:p>
        </p:txBody>
      </p:sp>
      <p:sp>
        <p:nvSpPr>
          <p:cNvPr id="2" name="6984：CV 提取几何结构，Geometry 汇总证据；Critic 再校正标签与笔画样式">
            <a:extLst xmlns:a="http://schemas.openxmlformats.org/drawingml/2006/main">
              <a:ext uri="{FF2B5EF4-FFF2-40B4-BE49-F238E27FC236}">
                <a16:creationId xmlns:a16="http://schemas.microsoft.com/office/drawing/2014/main" id="{BF46C7F9-EDEB-46DB-9C1A-7F32E901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419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6984：CV 提取几何结构，Geometry 汇总证据；Critic 再校正标签与笔画样式</a:t>
            </a:r>
          </a:p>
        </p:txBody>
      </p:sp>
      <p:sp>
        <p:nvSpPr>
          <p:cNvPr id="3" name="6984_q_fig1">
            <a:extLst xmlns:a="http://schemas.openxmlformats.org/drawingml/2006/main">
              <a:ext uri="{FF2B5EF4-FFF2-40B4-BE49-F238E27FC236}">
                <a16:creationId xmlns:a16="http://schemas.microsoft.com/office/drawing/2014/main" id="{8DE66A0F-1DEC-4A49-9C74-1469FCD2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295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6984_q_fig1</a:t>
            </a:r>
          </a:p>
        </p:txBody>
      </p:sp>
      <p:sp>
        <p:nvSpPr>
          <p:cNvPr id="4" name="Critic 分数为内部评审信号，不是外部准确率">
            <a:extLst xmlns:a="http://schemas.openxmlformats.org/drawingml/2006/main">
              <a:ext uri="{FF2B5EF4-FFF2-40B4-BE49-F238E27FC236}">
                <a16:creationId xmlns:a16="http://schemas.microsoft.com/office/drawing/2014/main" id="{3768055C-8F73-423E-8FB7-35E8585E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295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Critic 分数为内部评审信号，不是外部准确率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81BFBBBA-B339-4627-B0EF-615FA4CF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0295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输入图像">
            <a:extLst xmlns:a="http://schemas.openxmlformats.org/drawingml/2006/main">
              <a:ext uri="{FF2B5EF4-FFF2-40B4-BE49-F238E27FC236}">
                <a16:creationId xmlns:a16="http://schemas.microsoft.com/office/drawing/2014/main" id="{5AFF21C2-DB1C-40CC-B5AE-D72730B8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输入图像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B4A86-7C88-4C3A-A91D-6324CCD1E260}"/>
              </a:ext>
            </a:extLst>
          </p:cNvPr>
          <p:cNvCxnSpPr/>
          <p:nvPr/>
        </p:nvCxnSpPr>
        <p:spPr>
          <a:xfrm xmlns:a="http://schemas.openxmlformats.org/drawingml/2006/main">
            <a:off x="3143250" y="1971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67AD"/>
            </a:solidFill>
            <a:tailEnd type="triangle" w="med" len="med"/>
          </a:ln>
        </p:spPr>
      </p:cxnSp>
      <p:sp>
        <p:nvSpPr>
          <p:cNvPr id="8" name="CV 检测">
            <a:extLst xmlns:a="http://schemas.openxmlformats.org/drawingml/2006/main">
              <a:ext uri="{FF2B5EF4-FFF2-40B4-BE49-F238E27FC236}">
                <a16:creationId xmlns:a16="http://schemas.microsoft.com/office/drawing/2014/main" id="{B3BDD28B-95F7-421E-9D92-5AD77EDD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52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CV 检测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00345-C663-4DB7-858E-A5B86D197A6B}"/>
              </a:ext>
            </a:extLst>
          </p:cNvPr>
          <p:cNvCxnSpPr/>
          <p:nvPr/>
        </p:nvCxnSpPr>
        <p:spPr>
          <a:xfrm xmlns:a="http://schemas.openxmlformats.org/drawingml/2006/main">
            <a:off x="6096000" y="1971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67AD"/>
            </a:solidFill>
            <a:tailEnd type="triangle" w="med" len="med"/>
          </a:ln>
        </p:spPr>
      </p:cxnSp>
      <p:sp>
        <p:nvSpPr>
          <p:cNvPr id="10" name="GES / Geometry">
            <a:extLst xmlns:a="http://schemas.openxmlformats.org/drawingml/2006/main">
              <a:ext uri="{FF2B5EF4-FFF2-40B4-BE49-F238E27FC236}">
                <a16:creationId xmlns:a16="http://schemas.microsoft.com/office/drawing/2014/main" id="{5A3F404E-71F1-4F67-A006-2B98D988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52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GES / Geometry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A34C1-3E55-468A-9D3E-F31E513987AB}"/>
              </a:ext>
            </a:extLst>
          </p:cNvPr>
          <p:cNvCxnSpPr/>
          <p:nvPr/>
        </p:nvCxnSpPr>
        <p:spPr>
          <a:xfrm xmlns:a="http://schemas.openxmlformats.org/drawingml/2006/main">
            <a:off x="9048750" y="1971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67AD"/>
            </a:solidFill>
            <a:tailEnd type="triangle" w="med" len="med"/>
          </a:ln>
        </p:spPr>
      </p:cxnSp>
      <p:sp>
        <p:nvSpPr>
          <p:cNvPr id="12" name="生成 v1">
            <a:extLst xmlns:a="http://schemas.openxmlformats.org/drawingml/2006/main">
              <a:ext uri="{FF2B5EF4-FFF2-40B4-BE49-F238E27FC236}">
                <a16:creationId xmlns:a16="http://schemas.microsoft.com/office/drawing/2014/main" id="{BC951418-31DB-4BE8-81E0-F9991583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52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生成 v1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CE338-EE14-4F85-A22C-5519488F3682}"/>
              </a:ext>
            </a:extLst>
          </p:cNvPr>
          <p:cNvCxnSpPr/>
          <p:nvPr/>
        </p:nvCxnSpPr>
        <p:spPr>
          <a:xfrm xmlns:a="http://schemas.openxmlformats.org/drawingml/2006/main">
            <a:off x="12001500" y="1971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67AD"/>
            </a:solidFill>
            <a:tailEnd type="triangle" w="med" len="med"/>
          </a:ln>
        </p:spPr>
      </p:cxnSp>
      <p:sp>
        <p:nvSpPr>
          <p:cNvPr id="14" name="修复后 v3">
            <a:extLst xmlns:a="http://schemas.openxmlformats.org/drawingml/2006/main">
              <a:ext uri="{FF2B5EF4-FFF2-40B4-BE49-F238E27FC236}">
                <a16:creationId xmlns:a16="http://schemas.microsoft.com/office/drawing/2014/main" id="{70DF4A5F-B136-411B-BB24-6CEB9CE3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752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修复后 v3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0BB2C-ACA3-40F2-93AB-2162AEFFB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106052b3740d5"/>
          <a:stretch xmlns:a="http://schemas.openxmlformats.org/drawingml/2006/main"/>
        </p:blipFill>
        <p:spPr>
          <a:xfrm xmlns:a="http://schemas.openxmlformats.org/drawingml/2006/main">
            <a:off x="523875" y="2555800"/>
            <a:ext cx="2428875" cy="2222650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9C865-37D3-45C0-BB1D-11BA4B7971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5257adfec4f71"/>
          <a:stretch xmlns:a="http://schemas.openxmlformats.org/drawingml/2006/main"/>
        </p:blipFill>
        <p:spPr>
          <a:xfrm xmlns:a="http://schemas.openxmlformats.org/drawingml/2006/main">
            <a:off x="3476625" y="2555800"/>
            <a:ext cx="2428875" cy="2222650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48A95-600B-4D1F-A611-014CC53D69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9a4c9b4ac46aa"/>
          <a:stretch xmlns:a="http://schemas.openxmlformats.org/drawingml/2006/main"/>
        </p:blipFill>
        <p:spPr>
          <a:xfrm xmlns:a="http://schemas.openxmlformats.org/drawingml/2006/main">
            <a:off x="6429375" y="2436648"/>
            <a:ext cx="2428875" cy="2460954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064C7-2F55-4A03-A701-BEC8CEC3DC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603fddcb04366"/>
          <a:stretch xmlns:a="http://schemas.openxmlformats.org/drawingml/2006/main"/>
        </p:blipFill>
        <p:spPr>
          <a:xfrm xmlns:a="http://schemas.openxmlformats.org/drawingml/2006/main">
            <a:off x="9382125" y="2555800"/>
            <a:ext cx="2428875" cy="2222650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869E0-547D-4B5F-8EBB-2B5E6CC2A9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22017dddd4063"/>
          <a:stretch xmlns:a="http://schemas.openxmlformats.org/drawingml/2006/main"/>
        </p:blipFill>
        <p:spPr>
          <a:xfrm xmlns:a="http://schemas.openxmlformats.org/drawingml/2006/main">
            <a:off x="12334875" y="2555800"/>
            <a:ext cx="2428875" cy="2222650"/>
          </a:xfrm>
          <a:prstGeom xmlns:a="http://schemas.openxmlformats.org/drawingml/2006/main" prst="rect">
            <a:avLst/>
          </a:prstGeom>
        </p:spPr>
      </p:pic>
      <p:sp>
        <p:nvSpPr>
          <p:cNvPr id="20" name="整圆、直径与弦&#10;F 处有直角标记">
            <a:extLst xmlns:a="http://schemas.openxmlformats.org/drawingml/2006/main">
              <a:ext uri="{FF2B5EF4-FFF2-40B4-BE49-F238E27FC236}">
                <a16:creationId xmlns:a16="http://schemas.microsoft.com/office/drawing/2014/main" id="{E7B82939-7B88-4BC3-88AD-DC865A0C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整圆、直径与弦</a:t>
            </a:r>
          </a:p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F 处有直角标记</a:t>
            </a:r>
          </a:p>
        </p:txBody>
      </p:sp>
      <p:sp>
        <p:nvSpPr>
          <p:cNvPr id="21" name="4 段线、1 个圆&#10;直角与 8 个字母">
            <a:extLst xmlns:a="http://schemas.openxmlformats.org/drawingml/2006/main">
              <a:ext uri="{FF2B5EF4-FFF2-40B4-BE49-F238E27FC236}">
                <a16:creationId xmlns:a16="http://schemas.microsoft.com/office/drawing/2014/main" id="{1586A16D-E630-496B-A0C5-05D1FA39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19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4 段线、1 个圆</a:t>
            </a:r>
          </a:p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直角与 8 个字母</a:t>
            </a:r>
          </a:p>
        </p:txBody>
      </p:sp>
      <p:sp>
        <p:nvSpPr>
          <p:cNvPr id="22" name="35 对象 / 25 关系&#10;统一几何与证据">
            <a:extLst xmlns:a="http://schemas.openxmlformats.org/drawingml/2006/main">
              <a:ext uri="{FF2B5EF4-FFF2-40B4-BE49-F238E27FC236}">
                <a16:creationId xmlns:a16="http://schemas.microsoft.com/office/drawing/2014/main" id="{9C120250-8071-492A-8A39-2C613E6B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19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35 对象 / 25 关系</a:t>
            </a:r>
          </a:p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统一几何与证据</a:t>
            </a:r>
          </a:p>
        </p:txBody>
      </p:sp>
      <p:sp>
        <p:nvSpPr>
          <p:cNvPr id="23" name="编译成功，分数 0.90&#10;F 标签偏侧、线偏细">
            <a:extLst xmlns:a="http://schemas.openxmlformats.org/drawingml/2006/main">
              <a:ext uri="{FF2B5EF4-FFF2-40B4-BE49-F238E27FC236}">
                <a16:creationId xmlns:a16="http://schemas.microsoft.com/office/drawing/2014/main" id="{C449842D-1D61-45B7-85CD-66D298CD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19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编译成功，分数 0.90</a:t>
            </a:r>
          </a:p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F 标签偏侧、线偏细</a:t>
            </a:r>
          </a:p>
        </p:txBody>
      </p:sp>
      <p:sp>
        <p:nvSpPr>
          <p:cNvPr id="24" name="编译成功，分数 0.95&#10;标签与笔画更接近原图">
            <a:extLst xmlns:a="http://schemas.openxmlformats.org/drawingml/2006/main">
              <a:ext uri="{FF2B5EF4-FFF2-40B4-BE49-F238E27FC236}">
                <a16:creationId xmlns:a16="http://schemas.microsoft.com/office/drawing/2014/main" id="{F7CBCDAD-1ABD-466A-B2E5-CEE5C817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5219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编译成功，分数 0.95</a:t>
            </a:r>
          </a:p>
          <a:p xmlns:a="http://schemas.openxmlformats.org/drawingml/2006/main">
            <a: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标签与笔画更接近原图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B616B-24E8-4572-B0AA-5F6E9B85CCA3}"/>
              </a:ext>
            </a:extLst>
          </p:cNvPr>
          <p:cNvCxnSpPr/>
          <p:nvPr/>
        </p:nvCxnSpPr>
        <p:spPr>
          <a:xfrm xmlns:a="http://schemas.openxmlformats.org/drawingml/2006/main">
            <a:off x="523875" y="6305550"/>
            <a:ext cx="1419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EDA"/>
            </a:solidFill>
          </a:ln>
        </p:spPr>
      </p:cxnSp>
      <p:sp>
        <p:nvSpPr>
          <p:cNvPr id="26" name="v1 → v2｜修正标签">
            <a:extLst xmlns:a="http://schemas.openxmlformats.org/drawingml/2006/main">
              <a:ext uri="{FF2B5EF4-FFF2-40B4-BE49-F238E27FC236}">
                <a16:creationId xmlns:a16="http://schemas.microsoft.com/office/drawing/2014/main" id="{A275B480-CC14-4EA6-83A1-3A0CBE3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v1 → v2｜修正标签</a:t>
            </a:r>
          </a:p>
        </p:txBody>
      </p:sp>
      <p:sp>
        <p:nvSpPr>
          <p:cNvPr id="27" name="Critic 指出 F 在弦 DG 的错误一侧；&#10;将 F 标签移到点的右下方。">
            <a:extLst xmlns:a="http://schemas.openxmlformats.org/drawingml/2006/main">
              <a:ext uri="{FF2B5EF4-FFF2-40B4-BE49-F238E27FC236}">
                <a16:creationId xmlns:a16="http://schemas.microsoft.com/office/drawing/2014/main" id="{DC545AAE-23E0-4A9C-92E0-AD5A2262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00087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Critic 指出 F 在弦 DG 的错误一侧；</a:t>
            </a:r>
          </a:p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将 F 标签移到点的右下方。</a:t>
            </a:r>
          </a:p>
        </p:txBody>
      </p:sp>
      <p:sp>
        <p:nvSpPr>
          <p:cNvPr id="28" name="v2 → v3｜修正线宽">
            <a:extLst xmlns:a="http://schemas.openxmlformats.org/drawingml/2006/main">
              <a:ext uri="{FF2B5EF4-FFF2-40B4-BE49-F238E27FC236}">
                <a16:creationId xmlns:a16="http://schemas.microsoft.com/office/drawing/2014/main" id="{8D4F489E-2EDC-4A30-8D4F-A32B21D6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515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v2 → v3｜修正线宽</a:t>
            </a:r>
          </a:p>
        </p:txBody>
      </p:sp>
      <p:sp>
        <p:nvSpPr>
          <p:cNvPr id="29" name="v2 仍为 0.90；圆与 AB 加粗至 1.4 pt，&#10;弦保持 0.6 pt，再次编译与评审。">
            <a:extLst xmlns:a="http://schemas.openxmlformats.org/drawingml/2006/main">
              <a:ext uri="{FF2B5EF4-FFF2-40B4-BE49-F238E27FC236}">
                <a16:creationId xmlns:a16="http://schemas.microsoft.com/office/drawing/2014/main" id="{138AE437-9A40-4617-B267-C309FAAD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000875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v2 仍为 0.90；圆与 AB 加粗至 1.4 pt，</a:t>
            </a:r>
          </a:p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弦保持 0.6 pt，再次编译与评审。</a:t>
            </a:r>
          </a:p>
        </p:txBody>
      </p:sp>
      <p:sp>
        <p:nvSpPr>
          <p:cNvPr id="30" name="输出｜保留 v3">
            <a:extLst xmlns:a="http://schemas.openxmlformats.org/drawingml/2006/main">
              <a:ext uri="{FF2B5EF4-FFF2-40B4-BE49-F238E27FC236}">
                <a16:creationId xmlns:a16="http://schemas.microsoft.com/office/drawing/2014/main" id="{6098D382-BCD7-4B90-B081-80F3E47F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15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输出｜保留 v3</a:t>
            </a:r>
          </a:p>
        </p:txBody>
      </p:sp>
      <p:sp>
        <p:nvSpPr>
          <p:cNvPr id="31" name="14 个调度步骤，3 次生成 / 编译 / 评审；&#10;最终 Critic 未提出样式问题。">
            <a:extLst xmlns:a="http://schemas.openxmlformats.org/drawingml/2006/main">
              <a:ext uri="{FF2B5EF4-FFF2-40B4-BE49-F238E27FC236}">
                <a16:creationId xmlns:a16="http://schemas.microsoft.com/office/drawing/2014/main" id="{809CBCD4-E12C-47CA-8B33-142A7141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0008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14 个调度步骤，3 次生成 / 编译 / 评审；</a:t>
            </a:r>
          </a:p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最终 Critic 未提出样式问题。</a:t>
            </a:r>
          </a:p>
        </p:txBody>
      </p:sp>
    </p:spTree>
    <p:extLst>
      <p:ext uri="{BB962C8B-B14F-4D97-AF65-F5344CB8AC3E}">
        <p14:creationId xmlns:p14="http://schemas.microsoft.com/office/powerpoint/2010/main" val="1309645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案例二｜误检圆弧：Critic 纠正错误几何">
            <a:extLst xmlns:a="http://schemas.openxmlformats.org/drawingml/2006/main">
              <a:ext uri="{FF2B5EF4-FFF2-40B4-BE49-F238E27FC236}">
                <a16:creationId xmlns:a16="http://schemas.microsoft.com/office/drawing/2014/main" id="{0E557F43-31C9-4FC0-9F68-50FC1F8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419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案例二｜误检圆弧：Critic 纠正错误几何</a:t>
            </a:r>
          </a:p>
        </p:txBody>
      </p:sp>
      <p:sp>
        <p:nvSpPr>
          <p:cNvPr id="2" name="403：CV 检测出假圆弧并影响首次生成；原图复核后删弧补线，再调整局部细节">
            <a:extLst xmlns:a="http://schemas.openxmlformats.org/drawingml/2006/main">
              <a:ext uri="{FF2B5EF4-FFF2-40B4-BE49-F238E27FC236}">
                <a16:creationId xmlns:a16="http://schemas.microsoft.com/office/drawing/2014/main" id="{C16B4B3D-F55E-4039-82D9-50A0D4EE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419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403：CV 检测出假圆弧并影响首次生成；原图复核后删弧补线，再调整局部细节</a:t>
            </a:r>
          </a:p>
        </p:txBody>
      </p:sp>
      <p:sp>
        <p:nvSpPr>
          <p:cNvPr id="3" name="403_q_fig1">
            <a:extLst xmlns:a="http://schemas.openxmlformats.org/drawingml/2006/main">
              <a:ext uri="{FF2B5EF4-FFF2-40B4-BE49-F238E27FC236}">
                <a16:creationId xmlns:a16="http://schemas.microsoft.com/office/drawing/2014/main" id="{A684C793-2B8B-4115-90B3-207C71CF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295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403_q_fig1</a:t>
            </a:r>
          </a:p>
        </p:txBody>
      </p:sp>
      <p:sp>
        <p:nvSpPr>
          <p:cNvPr id="4" name="Critic 分数为内部评审信号，不是外部准确率">
            <a:extLst xmlns:a="http://schemas.openxmlformats.org/drawingml/2006/main">
              <a:ext uri="{FF2B5EF4-FFF2-40B4-BE49-F238E27FC236}">
                <a16:creationId xmlns:a16="http://schemas.microsoft.com/office/drawing/2014/main" id="{661BFA23-FB16-44A0-A024-C0FB8B8F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295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Critic 分数为内部评审信号，不是外部准确率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5A03D24E-5451-4A5B-9F15-00573249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0295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输入图像">
            <a:extLst xmlns:a="http://schemas.openxmlformats.org/drawingml/2006/main">
              <a:ext uri="{FF2B5EF4-FFF2-40B4-BE49-F238E27FC236}">
                <a16:creationId xmlns:a16="http://schemas.microsoft.com/office/drawing/2014/main" id="{852F4B41-7124-42BA-AC72-E719E326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输入图像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255FC-5F85-4DCA-B86B-1B36B0F3B7C7}"/>
              </a:ext>
            </a:extLst>
          </p:cNvPr>
          <p:cNvCxnSpPr/>
          <p:nvPr/>
        </p:nvCxnSpPr>
        <p:spPr>
          <a:xfrm xmlns:a="http://schemas.openxmlformats.org/drawingml/2006/main">
            <a:off x="3143250" y="1971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67AD"/>
            </a:solidFill>
            <a:tailEnd type="triangle" w="med" len="med"/>
          </a:ln>
        </p:spPr>
      </p:cxnSp>
      <p:sp>
        <p:nvSpPr>
          <p:cNvPr id="8" name="CV 假阳性">
            <a:extLst xmlns:a="http://schemas.openxmlformats.org/drawingml/2006/main">
              <a:ext uri="{FF2B5EF4-FFF2-40B4-BE49-F238E27FC236}">
                <a16:creationId xmlns:a16="http://schemas.microsoft.com/office/drawing/2014/main" id="{7DA25FE4-80DE-414E-AED3-A92F0696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52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CV 假阳性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B8DCE-7070-4A9D-B2A5-DD2B11A7264F}"/>
              </a:ext>
            </a:extLst>
          </p:cNvPr>
          <p:cNvCxnSpPr/>
          <p:nvPr/>
        </p:nvCxnSpPr>
        <p:spPr>
          <a:xfrm xmlns:a="http://schemas.openxmlformats.org/drawingml/2006/main">
            <a:off x="6096000" y="1971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67AD"/>
            </a:solidFill>
            <a:tailEnd type="triangle" w="med" len="med"/>
          </a:ln>
        </p:spPr>
      </p:cxnSp>
      <p:sp>
        <p:nvSpPr>
          <p:cNvPr id="10" name="首次生成 v1">
            <a:extLst xmlns:a="http://schemas.openxmlformats.org/drawingml/2006/main">
              <a:ext uri="{FF2B5EF4-FFF2-40B4-BE49-F238E27FC236}">
                <a16:creationId xmlns:a16="http://schemas.microsoft.com/office/drawing/2014/main" id="{BA63E86A-73E9-44CA-A854-82ADDFAB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52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首次生成 v1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06692-D0F8-493C-B42C-7BAEA9BAEF63}"/>
              </a:ext>
            </a:extLst>
          </p:cNvPr>
          <p:cNvCxnSpPr/>
          <p:nvPr/>
        </p:nvCxnSpPr>
        <p:spPr>
          <a:xfrm xmlns:a="http://schemas.openxmlformats.org/drawingml/2006/main">
            <a:off x="9048750" y="1971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67AD"/>
            </a:solidFill>
            <a:tailEnd type="triangle" w="med" len="med"/>
          </a:ln>
        </p:spPr>
      </p:cxnSp>
      <p:sp>
        <p:nvSpPr>
          <p:cNvPr id="12" name="结构修复 v2">
            <a:extLst xmlns:a="http://schemas.openxmlformats.org/drawingml/2006/main">
              <a:ext uri="{FF2B5EF4-FFF2-40B4-BE49-F238E27FC236}">
                <a16:creationId xmlns:a16="http://schemas.microsoft.com/office/drawing/2014/main" id="{B595C012-7B74-4554-A261-51EDBD0A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52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结构修复 v2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18857-576D-4253-96D7-B49689601727}"/>
              </a:ext>
            </a:extLst>
          </p:cNvPr>
          <p:cNvCxnSpPr/>
          <p:nvPr/>
        </p:nvCxnSpPr>
        <p:spPr>
          <a:xfrm xmlns:a="http://schemas.openxmlformats.org/drawingml/2006/main">
            <a:off x="12001500" y="1971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67AD"/>
            </a:solidFill>
            <a:tailEnd type="triangle" w="med" len="med"/>
          </a:ln>
        </p:spPr>
      </p:cxnSp>
      <p:sp>
        <p:nvSpPr>
          <p:cNvPr id="14" name="最终版本 v5">
            <a:extLst xmlns:a="http://schemas.openxmlformats.org/drawingml/2006/main">
              <a:ext uri="{FF2B5EF4-FFF2-40B4-BE49-F238E27FC236}">
                <a16:creationId xmlns:a16="http://schemas.microsoft.com/office/drawing/2014/main" id="{2DE3FAAF-B21F-4C0C-89E3-B9CAFD7E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752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最终版本 v5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1176E-5B97-4A30-9140-0444FBA6E0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652ea98e04ce3"/>
          <a:stretch xmlns:a="http://schemas.openxmlformats.org/drawingml/2006/main"/>
        </p:blipFill>
        <p:spPr>
          <a:xfrm xmlns:a="http://schemas.openxmlformats.org/drawingml/2006/main">
            <a:off x="523875" y="2519845"/>
            <a:ext cx="2428875" cy="2294559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60D3C-6237-4CCC-831A-328D5254B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acbc2553a4dd3"/>
          <a:stretch xmlns:a="http://schemas.openxmlformats.org/drawingml/2006/main"/>
        </p:blipFill>
        <p:spPr>
          <a:xfrm xmlns:a="http://schemas.openxmlformats.org/drawingml/2006/main">
            <a:off x="3476625" y="2519845"/>
            <a:ext cx="2428875" cy="2294559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94352-925A-4A78-AB06-3D5898399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cbfb028f64f8d"/>
          <a:stretch xmlns:a="http://schemas.openxmlformats.org/drawingml/2006/main"/>
        </p:blipFill>
        <p:spPr>
          <a:xfrm xmlns:a="http://schemas.openxmlformats.org/drawingml/2006/main">
            <a:off x="6429375" y="2519845"/>
            <a:ext cx="2428875" cy="2294559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50105-D900-4CF5-BD31-03021125CE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764e804b6412e"/>
          <a:stretch xmlns:a="http://schemas.openxmlformats.org/drawingml/2006/main"/>
        </p:blipFill>
        <p:spPr>
          <a:xfrm xmlns:a="http://schemas.openxmlformats.org/drawingml/2006/main">
            <a:off x="9382125" y="2519845"/>
            <a:ext cx="2428875" cy="2294559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7E20C-60AF-4C6B-84C0-E314655355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ca575973b4b01"/>
          <a:stretch xmlns:a="http://schemas.openxmlformats.org/drawingml/2006/main"/>
        </p:blipFill>
        <p:spPr>
          <a:xfrm xmlns:a="http://schemas.openxmlformats.org/drawingml/2006/main">
            <a:off x="12334875" y="2519845"/>
            <a:ext cx="2428875" cy="2294559"/>
          </a:xfrm>
          <a:prstGeom xmlns:a="http://schemas.openxmlformats.org/drawingml/2006/main" prst="rect">
            <a:avLst/>
          </a:prstGeom>
        </p:spPr>
      </p:pic>
      <p:sp>
        <p:nvSpPr>
          <p:cNvPr id="20" name="原图没有圆弧&#10;仅线段、虚线与直角">
            <a:extLst xmlns:a="http://schemas.openxmlformats.org/drawingml/2006/main">
              <a:ext uri="{FF2B5EF4-FFF2-40B4-BE49-F238E27FC236}">
                <a16:creationId xmlns:a16="http://schemas.microsoft.com/office/drawing/2014/main" id="{47AA209C-A4AB-47B9-9B99-F908CD93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原图没有圆弧</a:t>
            </a:r>
          </a:p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仅线段、虚线与直角</a:t>
            </a:r>
          </a:p>
        </p:txBody>
      </p:sp>
      <p:sp>
        <p:nvSpPr>
          <p:cNvPr id="21" name="8 段线、1 个直角&#10;圆检测误报 1 条弧">
            <a:extLst xmlns:a="http://schemas.openxmlformats.org/drawingml/2006/main">
              <a:ext uri="{FF2B5EF4-FFF2-40B4-BE49-F238E27FC236}">
                <a16:creationId xmlns:a16="http://schemas.microsoft.com/office/drawing/2014/main" id="{F34335DE-9FE2-4666-840A-B88F1E1F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19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8 段线、1 个直角</a:t>
            </a:r>
          </a:p>
          <a:p xmlns:a="http://schemas.openxmlformats.org/drawingml/2006/main">
            <a: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圆检测误报 1 条弧</a:t>
            </a:r>
          </a:p>
        </p:txBody>
      </p:sp>
      <p:sp>
        <p:nvSpPr>
          <p:cNvPr id="22" name="分数 0.45&#10;多余圆弧，CD 未到 D">
            <a:extLst xmlns:a="http://schemas.openxmlformats.org/drawingml/2006/main">
              <a:ext uri="{FF2B5EF4-FFF2-40B4-BE49-F238E27FC236}">
                <a16:creationId xmlns:a16="http://schemas.microsoft.com/office/drawing/2014/main" id="{A5AECE65-38A1-4E75-8C23-3412B18A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19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分数 0.45</a:t>
            </a:r>
          </a:p>
          <a:p xmlns:a="http://schemas.openxmlformats.org/drawingml/2006/main">
            <a:pPr>
              <a:def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多余圆弧，CD 未到 D</a:t>
            </a:r>
          </a:p>
        </p:txBody>
      </p:sp>
      <p:sp>
        <p:nvSpPr>
          <p:cNvPr id="23" name="分数 0.88&#10;删去圆弧，CD 补到 D">
            <a:extLst xmlns:a="http://schemas.openxmlformats.org/drawingml/2006/main">
              <a:ext uri="{FF2B5EF4-FFF2-40B4-BE49-F238E27FC236}">
                <a16:creationId xmlns:a16="http://schemas.microsoft.com/office/drawing/2014/main" id="{944FDFAF-5CB2-4AE9-BE4D-A0B4D4EB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19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分数 0.88</a:t>
            </a:r>
          </a:p>
          <a:p xmlns:a="http://schemas.openxmlformats.org/drawingml/2006/main">
            <a:pPr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删去圆弧，CD 补到 D</a:t>
            </a:r>
          </a:p>
        </p:txBody>
      </p:sp>
      <p:sp>
        <p:nvSpPr>
          <p:cNvPr id="24" name="分数 0.90&#10;调整 E 上方虚线延伸">
            <a:extLst xmlns:a="http://schemas.openxmlformats.org/drawingml/2006/main">
              <a:ext uri="{FF2B5EF4-FFF2-40B4-BE49-F238E27FC236}">
                <a16:creationId xmlns:a16="http://schemas.microsoft.com/office/drawing/2014/main" id="{8A0CD923-7730-4730-A4D2-99A300A5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5219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分数 0.90</a:t>
            </a:r>
          </a:p>
          <a:p xmlns:a="http://schemas.openxmlformats.org/drawingml/2006/main">
            <a:pPr>
              <a:def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调整 E 上方虚线延伸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2CC91-24B7-476F-964F-5D7339C8C4BF}"/>
              </a:ext>
            </a:extLst>
          </p:cNvPr>
          <p:cNvCxnSpPr/>
          <p:nvPr/>
        </p:nvCxnSpPr>
        <p:spPr>
          <a:xfrm xmlns:a="http://schemas.openxmlformats.org/drawingml/2006/main">
            <a:off x="523875" y="6305550"/>
            <a:ext cx="1419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EDA"/>
            </a:solidFill>
          </a:ln>
        </p:spPr>
      </p:cxnSp>
      <p:sp>
        <p:nvSpPr>
          <p:cNvPr id="26" name="证据进入 GES">
            <a:extLst xmlns:a="http://schemas.openxmlformats.org/drawingml/2006/main">
              <a:ext uri="{FF2B5EF4-FFF2-40B4-BE49-F238E27FC236}">
                <a16:creationId xmlns:a16="http://schemas.microsoft.com/office/drawing/2014/main" id="{23CB35DC-1665-45B6-9044-06C81019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证据进入 GES</a:t>
            </a:r>
          </a:p>
        </p:txBody>
      </p:sp>
      <p:sp>
        <p:nvSpPr>
          <p:cNvPr id="27" name="Geometry 汇总后，归档状态为&#10;44 个对象、21 条关系；CV 仍可能误检。">
            <a:extLst xmlns:a="http://schemas.openxmlformats.org/drawingml/2006/main">
              <a:ext uri="{FF2B5EF4-FFF2-40B4-BE49-F238E27FC236}">
                <a16:creationId xmlns:a16="http://schemas.microsoft.com/office/drawing/2014/main" id="{AF45F387-DCBA-4916-90E4-A0826210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000875"/>
            <a:ext cx="442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Geometry 汇总后，归档状态为</a:t>
            </a:r>
          </a:p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44 个对象、21 条关系；CV 仍可能误检。</a:t>
            </a:r>
          </a:p>
        </p:txBody>
      </p:sp>
      <p:sp>
        <p:nvSpPr>
          <p:cNvPr id="28" name="Critic → 原图复核 → 修复">
            <a:extLst xmlns:a="http://schemas.openxmlformats.org/drawingml/2006/main">
              <a:ext uri="{FF2B5EF4-FFF2-40B4-BE49-F238E27FC236}">
                <a16:creationId xmlns:a16="http://schemas.microsoft.com/office/drawing/2014/main" id="{C796C11F-D0E8-4BA2-85B2-242892EF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5151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Critic → 原图复核 → 修复</a:t>
            </a:r>
          </a:p>
        </p:txBody>
      </p:sp>
      <p:sp>
        <p:nvSpPr>
          <p:cNvPr id="29" name="v1 被指出假弧与断线；Supervisor&#10;调用 inspect_image，随后指示删弧补线。">
            <a:extLst xmlns:a="http://schemas.openxmlformats.org/drawingml/2006/main">
              <a:ext uri="{FF2B5EF4-FFF2-40B4-BE49-F238E27FC236}">
                <a16:creationId xmlns:a16="http://schemas.microsoft.com/office/drawing/2014/main" id="{87B1417B-922F-4E4B-BD40-8A0052F5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000875"/>
            <a:ext cx="461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v1 被指出假弧与断线；Supervisor</a:t>
            </a:r>
          </a:p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调用 inspect_image，随后指示删弧补线。</a:t>
            </a:r>
          </a:p>
        </p:txBody>
      </p:sp>
      <p:sp>
        <p:nvSpPr>
          <p:cNvPr id="30" name="继续迭代与结束门控">
            <a:extLst xmlns:a="http://schemas.openxmlformats.org/drawingml/2006/main">
              <a:ext uri="{FF2B5EF4-FFF2-40B4-BE49-F238E27FC236}">
                <a16:creationId xmlns:a16="http://schemas.microsoft.com/office/drawing/2014/main" id="{BA3227F8-AB81-406F-BF6A-0B562A8F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15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继续迭代与结束门控</a:t>
            </a:r>
          </a:p>
        </p:txBody>
      </p:sp>
      <p:sp>
        <p:nvSpPr>
          <p:cNvPr id="31" name="v4 尚有中度问题，finish 被拦截；&#10;v5 仍有轻微延伸偏长，最终保留 v5。">
            <a:extLst xmlns:a="http://schemas.openxmlformats.org/drawingml/2006/main">
              <a:ext uri="{FF2B5EF4-FFF2-40B4-BE49-F238E27FC236}">
                <a16:creationId xmlns:a16="http://schemas.microsoft.com/office/drawing/2014/main" id="{3F4A329A-E9A7-44C2-AD15-25B25875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000875"/>
            <a:ext cx="4333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v4 尚有中度问题，finish 被拦截；</a:t>
            </a:r>
          </a:p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v5 仍有轻微延伸偏长，最终保留 v5。</a:t>
            </a:r>
          </a:p>
        </p:txBody>
      </p:sp>
    </p:spTree>
    <p:extLst>
      <p:ext uri="{BB962C8B-B14F-4D97-AF65-F5344CB8AC3E}">
        <p14:creationId xmlns:p14="http://schemas.microsoft.com/office/powerpoint/2010/main" val="1035938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案例三｜遗漏 FG 虚线：从差异定位到完整补绘">
            <a:extLst xmlns:a="http://schemas.openxmlformats.org/drawingml/2006/main">
              <a:ext uri="{FF2B5EF4-FFF2-40B4-BE49-F238E27FC236}">
                <a16:creationId xmlns:a16="http://schemas.microsoft.com/office/drawing/2014/main" id="{2F575180-C78A-41B4-B1B8-87C117D8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419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案例三｜遗漏 FG 虚线：从差异定位到完整补绘</a:t>
            </a:r>
          </a:p>
        </p:txBody>
      </p:sp>
      <p:sp>
        <p:nvSpPr>
          <p:cNvPr id="2" name="1260：标签绑定阶段 G 未绑定；首次渲染遗漏 FG 与 G，Critic 指定位置后一次修复">
            <a:extLst xmlns:a="http://schemas.openxmlformats.org/drawingml/2006/main">
              <a:ext uri="{FF2B5EF4-FFF2-40B4-BE49-F238E27FC236}">
                <a16:creationId xmlns:a16="http://schemas.microsoft.com/office/drawing/2014/main" id="{03458E99-4F8F-4415-B7BE-4E97BFA8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419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1260：标签绑定阶段 G 未绑定；首次渲染遗漏 FG 与 G，Critic 指定位置后一次修复</a:t>
            </a:r>
          </a:p>
        </p:txBody>
      </p:sp>
      <p:sp>
        <p:nvSpPr>
          <p:cNvPr id="3" name="1260_q_fig2">
            <a:extLst xmlns:a="http://schemas.openxmlformats.org/drawingml/2006/main">
              <a:ext uri="{FF2B5EF4-FFF2-40B4-BE49-F238E27FC236}">
                <a16:creationId xmlns:a16="http://schemas.microsoft.com/office/drawing/2014/main" id="{C7704D24-667A-4D74-92D3-58D8BCB6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295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1260_q_fig2</a:t>
            </a:r>
          </a:p>
        </p:txBody>
      </p:sp>
      <p:sp>
        <p:nvSpPr>
          <p:cNvPr id="4" name="Critic 分数为内部评审信号，不是外部准确率">
            <a:extLst xmlns:a="http://schemas.openxmlformats.org/drawingml/2006/main">
              <a:ext uri="{FF2B5EF4-FFF2-40B4-BE49-F238E27FC236}">
                <a16:creationId xmlns:a16="http://schemas.microsoft.com/office/drawing/2014/main" id="{00438480-0966-4A98-B78F-21ABAEE4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295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Critic 分数为内部评审信号，不是外部准确率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A8F5532E-B9DA-4FCC-80AB-BCD9B786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0295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原图｜应有 FG 与 G">
            <a:extLst xmlns:a="http://schemas.openxmlformats.org/drawingml/2006/main">
              <a:ext uri="{FF2B5EF4-FFF2-40B4-BE49-F238E27FC236}">
                <a16:creationId xmlns:a16="http://schemas.microsoft.com/office/drawing/2014/main" id="{0691054B-9765-46A1-9560-490E7C46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原图｜应有 FG 与 G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756AC-B2BC-422C-9522-D6B1F37FF534}"/>
              </a:ext>
            </a:extLst>
          </p:cNvPr>
          <p:cNvCxnSpPr/>
          <p:nvPr/>
        </p:nvCxnSpPr>
        <p:spPr>
          <a:xfrm xmlns:a="http://schemas.openxmlformats.org/drawingml/2006/main">
            <a:off x="5048250" y="20193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67AD"/>
            </a:solidFill>
            <a:tailEnd type="triangle" w="med" len="med"/>
          </a:ln>
        </p:spPr>
      </p:cxnSp>
      <p:sp>
        <p:nvSpPr>
          <p:cNvPr id="8" name="生成 v1｜0.85">
            <a:extLst xmlns:a="http://schemas.openxmlformats.org/drawingml/2006/main">
              <a:ext uri="{FF2B5EF4-FFF2-40B4-BE49-F238E27FC236}">
                <a16:creationId xmlns:a16="http://schemas.microsoft.com/office/drawing/2014/main" id="{91F96EC9-F17D-4F97-9CC3-4265F17F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09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生成 v1｜0.85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A0314-755C-4319-A136-FDD23E772F13}"/>
              </a:ext>
            </a:extLst>
          </p:cNvPr>
          <p:cNvCxnSpPr/>
          <p:nvPr/>
        </p:nvCxnSpPr>
        <p:spPr>
          <a:xfrm xmlns:a="http://schemas.openxmlformats.org/drawingml/2006/main">
            <a:off x="9906000" y="20193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67AD"/>
            </a:solidFill>
            <a:tailEnd type="triangle" w="med" len="med"/>
          </a:ln>
        </p:spPr>
      </p:cxnSp>
      <p:sp>
        <p:nvSpPr>
          <p:cNvPr id="10" name="修复 v2｜0.93">
            <a:extLst xmlns:a="http://schemas.openxmlformats.org/drawingml/2006/main">
              <a:ext uri="{FF2B5EF4-FFF2-40B4-BE49-F238E27FC236}">
                <a16:creationId xmlns:a16="http://schemas.microsoft.com/office/drawing/2014/main" id="{A45E1A71-F5A9-4409-8CAA-7D841A2C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809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修复 v2｜0.93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060F3-98BB-4238-9169-F9FBA1BE46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59091bebc4b02"/>
          <a:stretch xmlns:a="http://schemas.openxmlformats.org/drawingml/2006/main"/>
        </p:blipFill>
        <p:spPr>
          <a:xfrm xmlns:a="http://schemas.openxmlformats.org/drawingml/2006/main">
            <a:off x="523875" y="2632075"/>
            <a:ext cx="4476750" cy="20320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AC126-94DB-421C-8485-23F5C2497A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4bc63d4794615"/>
          <a:stretch xmlns:a="http://schemas.openxmlformats.org/drawingml/2006/main"/>
        </p:blipFill>
        <p:spPr>
          <a:xfrm xmlns:a="http://schemas.openxmlformats.org/drawingml/2006/main">
            <a:off x="5381625" y="2632075"/>
            <a:ext cx="4476750" cy="203200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4DB3F-D9F5-4C59-84C4-0C87974D21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2c2a5b99942c0"/>
          <a:stretch xmlns:a="http://schemas.openxmlformats.org/drawingml/2006/main"/>
        </p:blipFill>
        <p:spPr>
          <a:xfrm xmlns:a="http://schemas.openxmlformats.org/drawingml/2006/main">
            <a:off x="10239375" y="2632075"/>
            <a:ext cx="4476750" cy="2032000"/>
          </a:xfrm>
          <a:prstGeom xmlns:a="http://schemas.openxmlformats.org/drawingml/2006/main" prst="rect">
            <a:avLst/>
          </a:prstGeom>
        </p:spPr>
      </p:pic>
      <p:sp>
        <p:nvSpPr>
          <p:cNvPr id="14" name="AF 的方向从 F 继续延伸至底边 G；&#10;FG 使用虚线，并标出 G。">
            <a:extLst xmlns:a="http://schemas.openxmlformats.org/drawingml/2006/main">
              <a:ext uri="{FF2B5EF4-FFF2-40B4-BE49-F238E27FC236}">
                <a16:creationId xmlns:a16="http://schemas.microsoft.com/office/drawing/2014/main" id="{25F05AE2-07E8-4160-9557-3B099C8D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AF 的方向从 F 继续延伸至底边 G；</a:t>
            </a:r>
          </a:p>
          <a:p xmlns:a="http://schemas.openxmlformats.org/drawingml/2006/main">
            <a:pPr>
              <a:def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FG 使用虚线，并标出 G。</a:t>
            </a:r>
          </a:p>
        </p:txBody>
      </p:sp>
      <p:sp>
        <p:nvSpPr>
          <p:cNvPr id="15" name="文档编译通过，但 AF 停在 F；&#10;FG 虚线与底边上的 G 标签均缺失。">
            <a:extLst xmlns:a="http://schemas.openxmlformats.org/drawingml/2006/main">
              <a:ext uri="{FF2B5EF4-FFF2-40B4-BE49-F238E27FC236}">
                <a16:creationId xmlns:a16="http://schemas.microsoft.com/office/drawing/2014/main" id="{F9E8E43C-CF47-487E-8B91-4EE30F96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435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文档编译通过，但 AF 停在 F；</a:t>
            </a:r>
          </a:p>
          <a:p xmlns:a="http://schemas.openxmlformats.org/drawingml/2006/main">
            <a:pPr>
              <a:def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FG 虚线与底边上的 G 标签均缺失。</a:t>
            </a:r>
          </a:p>
        </p:txBody>
      </p:sp>
      <p:sp>
        <p:nvSpPr>
          <p:cNvPr id="16" name="延长至底边 G，补画 FG 虚线；&#10;保留其余几何、样式与标签。">
            <a:extLst xmlns:a="http://schemas.openxmlformats.org/drawingml/2006/main">
              <a:ext uri="{FF2B5EF4-FFF2-40B4-BE49-F238E27FC236}">
                <a16:creationId xmlns:a16="http://schemas.microsoft.com/office/drawing/2014/main" id="{DC73DCD0-9117-44A9-963E-90BBAB0F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1435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延长至底边 G，补画 FG 虚线；</a:t>
            </a:r>
          </a:p>
          <a:p xmlns:a="http://schemas.openxmlformats.org/drawingml/2006/main">
            <a:pPr>
              <a:def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保留其余几何、样式与标签。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1FCDB-553B-4D84-91B6-CA67ABF6FAF1}"/>
              </a:ext>
            </a:extLst>
          </p:cNvPr>
          <p:cNvCxnSpPr/>
          <p:nvPr/>
        </p:nvCxnSpPr>
        <p:spPr>
          <a:xfrm xmlns:a="http://schemas.openxmlformats.org/drawingml/2006/main">
            <a:off x="523875" y="6267450"/>
            <a:ext cx="1419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EDA"/>
            </a:solidFill>
          </a:ln>
        </p:spPr>
      </p:cxnSp>
      <p:sp>
        <p:nvSpPr>
          <p:cNvPr id="18" name="① CV → Geometry / GES">
            <a:extLst xmlns:a="http://schemas.openxmlformats.org/drawingml/2006/main">
              <a:ext uri="{FF2B5EF4-FFF2-40B4-BE49-F238E27FC236}">
                <a16:creationId xmlns:a16="http://schemas.microsoft.com/office/drawing/2014/main" id="{C297B5FE-C8DA-4995-B36F-E0F3AC63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① CV → Geometry / GES</a:t>
            </a:r>
          </a:p>
        </p:txBody>
      </p:sp>
      <p:sp>
        <p:nvSpPr>
          <p:cNvPr id="19" name="检测 8 段线并绑定标签，G 未绑定；&#10;几何归档状态：35 对象 / 11 关系。">
            <a:extLst xmlns:a="http://schemas.openxmlformats.org/drawingml/2006/main">
              <a:ext uri="{FF2B5EF4-FFF2-40B4-BE49-F238E27FC236}">
                <a16:creationId xmlns:a16="http://schemas.microsoft.com/office/drawing/2014/main" id="{6A8A5927-BC35-4792-BA80-A6256B0C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000875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检测 8 段线并绑定标签，G 未绑定；</a:t>
            </a:r>
          </a:p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几何归档状态：35 对象 / 11 关系。</a:t>
            </a:r>
          </a:p>
        </p:txBody>
      </p:sp>
      <p:sp>
        <p:nvSpPr>
          <p:cNvPr id="20" name="② 编译渲染 → Critic">
            <a:extLst xmlns:a="http://schemas.openxmlformats.org/drawingml/2006/main">
              <a:ext uri="{FF2B5EF4-FFF2-40B4-BE49-F238E27FC236}">
                <a16:creationId xmlns:a16="http://schemas.microsoft.com/office/drawing/2014/main" id="{1EE2C6CD-1319-42C9-8D3E-FAB1E828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477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② 编译渲染 → Critic</a:t>
            </a:r>
          </a:p>
        </p:txBody>
      </p:sp>
      <p:sp>
        <p:nvSpPr>
          <p:cNvPr id="21" name="与原图对比，定位两项遗漏：&#10;FG 虚线为高严重度，G 标签为中度。">
            <a:extLst xmlns:a="http://schemas.openxmlformats.org/drawingml/2006/main">
              <a:ext uri="{FF2B5EF4-FFF2-40B4-BE49-F238E27FC236}">
                <a16:creationId xmlns:a16="http://schemas.microsoft.com/office/drawing/2014/main" id="{F198A6E4-AEC6-4E09-BF85-8BE117D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000875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与原图对比，定位两项遗漏：</a:t>
            </a:r>
          </a:p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FG 虚线为高严重度，G 标签为中度。</a:t>
            </a:r>
          </a:p>
        </p:txBody>
      </p:sp>
      <p:sp>
        <p:nvSpPr>
          <p:cNvPr id="22" name="③ 修复 → 重评 → 输出">
            <a:extLst xmlns:a="http://schemas.openxmlformats.org/drawingml/2006/main">
              <a:ext uri="{FF2B5EF4-FFF2-40B4-BE49-F238E27FC236}">
                <a16:creationId xmlns:a16="http://schemas.microsoft.com/office/drawing/2014/main" id="{029C78B7-A29E-4B35-A464-68CFD413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477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③ 修复 → 重评 → 输出</a:t>
            </a:r>
          </a:p>
        </p:txBody>
      </p:sp>
      <p:sp>
        <p:nvSpPr>
          <p:cNvPr id="23" name="补绘后重新编译与评审，保留 v2；&#10;共 8 个调度步骤、2 次编译 / 评审。">
            <a:extLst xmlns:a="http://schemas.openxmlformats.org/drawingml/2006/main">
              <a:ext uri="{FF2B5EF4-FFF2-40B4-BE49-F238E27FC236}">
                <a16:creationId xmlns:a16="http://schemas.microsoft.com/office/drawing/2014/main" id="{F672A4BC-44A3-4873-8A86-B6B1273B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000875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补绘后重新编译与评审，保留 v2；</a:t>
            </a:r>
          </a:p>
          <a:p xmlns:a="http://schemas.openxmlformats.org/drawingml/2006/main">
            <a:pPr>
              <a:def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共 8 个调度步骤、2 次编译 / 评审。</a:t>
            </a:r>
          </a:p>
        </p:txBody>
      </p:sp>
    </p:spTree>
    <p:extLst>
      <p:ext uri="{BB962C8B-B14F-4D97-AF65-F5344CB8AC3E}">
        <p14:creationId xmlns:p14="http://schemas.microsoft.com/office/powerpoint/2010/main" val="1712911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2026-10-31T03:06:27.9130000Z</dcterms:created>
  <dcterms:modified xsi:type="dcterms:W3CDTF">2026-10-31T03:06:27.9130000Z</dcterms:modified>
</coreProperties>
</file>