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'1.0' encoding='utf-8'?>
<ns0:Relationships xmlns:ns0="http://schemas.openxmlformats.org/package/2006/relationships"><ns0:Relationship Type="http://schemas.openxmlformats.org/officeDocument/2006/relationships/slide" Target="../slides/slide3.xml" Id="R744264fba07742ab" /><ns0:Relationship Type="http://schemas.openxmlformats.org/officeDocument/2006/relationships/notesMaster" Target="../notesMasters/notesMaster1.xml" Id="R578427f6c9dc483b" /></ns0: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来源：README.md §2；docs/pipeline.md §1–3；geoagent/orchestration/runner.py；geoagent/agents/schemas.py。实线表示调用/处理，虚线表示结果写入 GES。图中省略底层 LLMClient、VisualContextManager、EvidenceStore。inspect_image 由 VisualContextManager 提供原图或 ROI 并在下一条 user 消息附图。Geometry 可自行调用 CV。TikZ 生成前测量风格并对已验证的直角正交化。Supervisor 每轮读取 GES 摘要。参考 LaTeX 全程对 Agent 隔离。编译成功只是结构可用，视觉一致性还需 Critic。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来源：geoagent/agents/schemas.py 的 SUPERVISOR_TOOLS（CV_TOOL_SCHEMAS 中 call_cv_tool 加其余五项）；geoagent/cv_tools/registry.py；geoagent/orchestration/runner.py 的 _do_*；geoagent/agents/geometry_agent.py；geoagent/agents/tikz_agent.py；geoagent/agents/critic_agent.py。表格输入同时区分显式调用参数和自动提供的上下文。inspect_image 本身返回元数据，图片通过追加 user 消息注入，供下一轮 Supervisor 查看，不是工具返回文字描述。run_tikz_agent 自动进行 style metrics 和已验证直角的正交化。finish 门控在预算允许时，对未评审/需修复情况做有限次数拦截，并非永久禁止停止。must_repair 排除 flaky 和信息项。assessment_score 是内部启发式评分，不是外部评测指标。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来源：outputs/ours100/stem/1260_q_fig2/state.json、llm_calls.jsonl，以及 geoagent/orchestration/runner.py 和各 Agent 代码。图中箭头表示处理顺序和关键信息的传递，各步骤实际均由 Supervisor 调用，结果返回 Supervisor，并非子 Agent 相互直接调用。GES 为结构化共享状态。Geometry 内部调用 detect_right_angle_marker（ROI全图，检出0个直角标记）、analyze_line_style（3段），保留虚实线争议与G未绑定项。Geometry提交14个对象、5条关系、2项冲突。生成首版指令只要求AF到F，没有要求FG或G。Critic通过原图/v1对比指出FG缺失high、G缺失medium，内部评分.85。Supervisor通过A(68.5,65)、F(238.3,149.6)与底边y=254外推G≈(448,254)，修复指令明确补FG虚线与G标签，沿用v1风格/尺度。TikZ修复自动获得旧源码、GES、编译信息、Critic问题。两次TikZ提交后均自动运行compile_tikz/render_pdf/validate_compilation。v2评审后才更新最佳版本，评分.93，must_repair=false，finish成功但仍保留未决项。内部评分不是外部SSIM指标。此次只有Critic的大模型调用has_images=true。图片为实际案例原图与v1/v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实际参数记录：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"action_history":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1,</a:t>
            </a:r>
          </a:p>
          <a:p xmlns:a="http://schemas.openxmlformats.org/drawingml/2006/main">
            <a:r>
              <a:t>      "action": "call_cv_tool:detect_lines",</a:t>
            </a:r>
          </a:p>
          <a:p xmlns:a="http://schemas.openxmlformats.org/drawingml/2006/main">
            <a:r>
              <a:t>      "purpose": "Find line segments in the figure",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"tool_name": "detect_lines",</a:t>
            </a:r>
          </a:p>
          <a:p xmlns:a="http://schemas.openxmlformats.org/drawingml/2006/main">
            <a:r>
              <a:t>        "params": {}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count=8",</a:t>
            </a:r>
          </a:p>
          <a:p xmlns:a="http://schemas.openxmlformats.org/drawingml/2006/main">
            <a:r>
              <a:t>      "duration_s": 0.18,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2,</a:t>
            </a:r>
          </a:p>
          <a:p xmlns:a="http://schemas.openxmlformats.org/drawingml/2006/main">
            <a:r>
              <a:t>      "action": "call_cv_tool:bind_point_labels",</a:t>
            </a:r>
          </a:p>
          <a:p xmlns:a="http://schemas.openxmlformats.org/drawingml/2006/main">
            <a:r>
              <a:t>      "purpose": "Bind labels to vertices",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"tool_name": "bind_point_labels",</a:t>
            </a:r>
          </a:p>
          <a:p xmlns:a="http://schemas.openxmlformats.org/drawingml/2006/main">
            <a:r>
              <a:t>        "params": {}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"ok=True",</a:t>
            </a:r>
          </a:p>
          <a:p xmlns:a="http://schemas.openxmlformats.org/drawingml/2006/main">
            <a:r>
              <a:t>      "duration_s": 0.4,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3,</a:t>
            </a:r>
          </a:p>
          <a:p xmlns:a="http://schemas.openxmlformats.org/drawingml/2006/main">
            <a:r>
              <a:t>      "action": "run_geometry_agent",</a:t>
            </a:r>
          </a:p>
          <a:p xmlns:a="http://schemas.openxmlformats.org/drawingml/2006/main">
            <a:r>
              <a:t>      "purpose": "Reconcile this figure. Verified labelled points (pixel coords, origin top-left): A(68.5,65), B(68.5,254), C(635.5,254), D(352,65), E(162.9,254), F(238.3,149.6). Detected segments: line_01 y=254 from x",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"instruction": "Reconcile this figure. Verified labelled points (pixel coords, origin top-left): A(68.5,65), B(68.5,254), C(635.5,254), D(352,65), E(162.9,254), F(238.3,149.6). Detected segments: line_01 y=254 from x=148 to 643 (base, through B? check B-E-C); line_02 from (643,259) to (344,60) i.e. C to D; line_03 y=65 from x=63 to 364 (A to D); line_04 from (165,259) to (66,60) (E to A); line_05 from (250,156) to (63,62) (A through F, F lies on it); line_06 dashed x=68.5 from y=60 to 257 (A to B); line_07 from (241,145) to (159,259) (F to E); line_08 dashed y=254 from x=67 to 200 (B to E). Determine the figure's structure: which segments are full edges between labelled vertices, whether F is on segment AE or elsewhere, whether dashed lines are auxiliary/hidden. Output objects: points with coords, segments as vertex pairs, and dashed flags. Do not invent labels; label_06 is unmatched - report if you find where it should be.",</a:t>
            </a:r>
          </a:p>
          <a:p xmlns:a="http://schemas.openxmlformats.org/drawingml/2006/main">
            <a:r>
              <a:t>        "use_image": null,</a:t>
            </a:r>
          </a:p>
          <a:p xmlns:a="http://schemas.openxmlformats.org/drawingml/2006/main">
            <a:r>
              <a:t>        "roi": null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merged={'objects': 14, 'relations': 5, 'conflicts': 2, 'rejected': []}",</a:t>
            </a:r>
          </a:p>
          <a:p xmlns:a="http://schemas.openxmlformats.org/drawingml/2006/main">
            <a:r>
              <a:t>      "duration_s": 28.16,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17639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4,</a:t>
            </a:r>
          </a:p>
          <a:p xmlns:a="http://schemas.openxmlformats.org/drawingml/2006/main">
            <a:r>
              <a:t>      "action": "run_tikz_agent",</a:t>
            </a:r>
          </a:p>
          <a:p xmlns:a="http://schemas.openxmlformats.org/drawingml/2006/main">
            <a:r>
              <a:t>      "purpose": "Draw the figure with black thin strokes, no fills. Use TikZ y-up coordinates: flip y using y_tikz = -(y_px) scaled (scale about 0.0 to 1 unit = 1/100 of pixel, e.g. x_tikz = x_px/100, y_tikz = -y_px/1",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"mode": "generate",</a:t>
            </a:r>
          </a:p>
          <a:p xmlns:a="http://schemas.openxmlformats.org/drawingml/2006/main">
            <a:r>
              <a:t>        "use_image": null,</a:t>
            </a:r>
          </a:p>
          <a:p xmlns:a="http://schemas.openxmlformats.org/drawingml/2006/main">
            <a:r>
              <a:t>        "instruction": "Draw the figure with black thin strokes, no fills. Use TikZ y-up coordinates: flip y using y_tikz = -(y_px) scaled (scale about 0.0 to 1 unit = 1/100 of pixel, e.g. x_tikz = x_px/100, y_tikz = -y_px/100). Points: A(68.5,65), B(68.5,254), C(635.5,254), D(352,65), E(162.9,254), F(238.3,149.6). Solid edges: A-D, D-C, C-B (base through E), A-E, F-E, A-F (A to F only). Dashed: A-B (vertical left side) and B-E (base portion between B and E is dashed). Label each point with its letter placed outside the vertex (A above-left, B below-left, C below-right, D above, E below, F above-right). Keep it compilable standalone document with tikz."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version=1; compile_ok=True; validation_passed=True; best_version=1",</a:t>
            </a:r>
          </a:p>
          <a:p xmlns:a="http://schemas.openxmlformats.org/drawingml/2006/main">
            <a:r>
              <a:t>      "duration_s": 13.28,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7344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5,</a:t>
            </a:r>
          </a:p>
          <a:p xmlns:a="http://schemas.openxmlformats.org/drawingml/2006/main">
            <a:r>
              <a:t>      "action": "run_critic",</a:t>
            </a:r>
          </a:p>
          <a:p xmlns:a="http://schemas.openxmlformats.org/drawingml/2006/main">
            <a:r>
              <a:t>      "purpose": "line extents, dashed segments, label placement",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"focus": "line extents, dashed segments, label placement"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version=1; best_version=1; assessment_score=0.85; issues=2",</a:t>
            </a:r>
          </a:p>
          <a:p xmlns:a="http://schemas.openxmlformats.org/drawingml/2006/main">
            <a:r>
              <a:t>      "duration_s": 16.52,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8508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1,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6,</a:t>
            </a:r>
          </a:p>
          <a:p xmlns:a="http://schemas.openxmlformats.org/drawingml/2006/main">
            <a:r>
              <a:t>      "action": "run_tikz_agent",</a:t>
            </a:r>
          </a:p>
          <a:p xmlns:a="http://schemas.openxmlformats.org/drawingml/2006/main">
            <a:r>
              <a:t>      "purpose": "Repair: extend segment A-F beyond F to point G on the base line y=254 (pixel coords). Line A(68.5,65) to F(238.3,149.6) has slope ~0.498, so it meets y=254 at x≈448 -&gt; G ≈ (448,254) in pixels; use the",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"mode": "repair",</a:t>
            </a:r>
          </a:p>
          <a:p xmlns:a="http://schemas.openxmlformats.org/drawingml/2006/main">
            <a:r>
              <a:t>        "use_image": null,</a:t>
            </a:r>
          </a:p>
          <a:p xmlns:a="http://schemas.openxmlformats.org/drawingml/2006/main">
            <a:r>
              <a:t>        "instruction": "Repair: extend segment A-F beyond F to point G on the base line y=254 (pixel coords). Line A(68.5,65) to F(238.3,149.6) has slope ~0.498, so it meets y=254 at x≈448 -&gt; G ≈ (448,254) in pixels; use the same scale as v1 (0.012719 cm/px, bbox-centred as in the existing tex). Draw F-G dashed (same dash style as A-B and B-E) and place a vertex G on base line with label 'G' placed below the line. Keep all other elements unchanged."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version=2; compile_ok=True; validation_passed=True; best_version=1",</a:t>
            </a:r>
          </a:p>
          <a:p xmlns:a="http://schemas.openxmlformats.org/drawingml/2006/main">
            <a:r>
              <a:t>      "duration_s": 11.67,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7879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7,</a:t>
            </a:r>
          </a:p>
          <a:p xmlns:a="http://schemas.openxmlformats.org/drawingml/2006/main">
            <a:r>
              <a:t>      "action": "run_critic",</a:t>
            </a:r>
          </a:p>
          <a:p xmlns:a="http://schemas.openxmlformats.org/drawingml/2006/main">
            <a:r>
              <a:t>      "purpose": "verify dashed FG extension to G on base and G label",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"focus": "verify dashed FG extension to G on base and G label"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version=2; best_version=2; assessment_score=0.93",</a:t>
            </a:r>
          </a:p>
          <a:p xmlns:a="http://schemas.openxmlformats.org/drawingml/2006/main">
            <a:r>
              <a:t>      "duration_s": 14.73,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8392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1,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8,</a:t>
            </a:r>
          </a:p>
          <a:p xmlns:a="http://schemas.openxmlformats.org/drawingml/2006/main">
            <a:r>
              <a:t>      "action": "finish",</a:t>
            </a:r>
          </a:p>
          <a:p xmlns:a="http://schemas.openxmlformats.org/drawingml/2006/main">
            <a:r>
              <a:t>      "purpose": "finish run",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"summary": "Produced a compiled TikZ reconstruction (version 2, critic-reviewed, must_repair=false, score 0.93). It contains vertices A, B, C, D, E, F, G with solid edges A-D, D-C, C-B, A-E, F-E, A-F, dashed A-B, B-E, and dashed F-G extension to G on base BC.",</a:t>
            </a:r>
          </a:p>
          <a:p xmlns:a="http://schemas.openxmlformats.org/drawingml/2006/main">
            <a:r>
              <a:t>        "unresolved": [</a:t>
            </a:r>
          </a:p>
          <a:p xmlns:a="http://schemas.openxmlformats.org/drawingml/2006/main">
            <a:r>
              <a:t>          "G's pixel position (448,254) was derived by extrapolating the A-F line, not from a detected point; it was not separately verified by CV.",</a:t>
            </a:r>
          </a:p>
          <a:p xmlns:a="http://schemas.openxmlformats.org/drawingml/2006/main">
            <a:r>
              <a:t>          "Solid/dashed styling of the base B-E and the F-G extension was judged from detector heuristics and critic feedback."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"status": "success"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best_version=2; status=success",</a:t>
            </a:r>
          </a:p>
          <a:p xmlns:a="http://schemas.openxmlformats.org/drawingml/2006/main">
            <a:r>
              <a:t>      "duration_s": 0,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"cv_runs":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"detect_lines",</a:t>
            </a:r>
          </a:p>
          <a:p xmlns:a="http://schemas.openxmlformats.org/drawingml/2006/main">
            <a:r>
              <a:t>      "params": {},</a:t>
            </a:r>
          </a:p>
          <a:p xmlns:a="http://schemas.openxmlformats.org/drawingml/2006/main">
            <a:r>
              <a:t>      "purpose": "Find line segments in the figure",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8,</a:t>
            </a:r>
          </a:p>
          <a:p xmlns:a="http://schemas.openxmlformats.org/drawingml/2006/main">
            <a:r>
              <a:t>      "visualization": "outputs\\batch_v2\\1260_q_fig2\\cv\\detect_lines.png",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"bind_point_labels",</a:t>
            </a:r>
          </a:p>
          <a:p xmlns:a="http://schemas.openxmlformats.org/drawingml/2006/main">
            <a:r>
              <a:t>      "params": {},</a:t>
            </a:r>
          </a:p>
          <a:p xmlns:a="http://schemas.openxmlformats.org/drawingml/2006/main">
            <a:r>
              <a:t>      "purpose": "Bind labels to vertices",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null,</a:t>
            </a:r>
          </a:p>
          <a:p xmlns:a="http://schemas.openxmlformats.org/drawingml/2006/main">
            <a:r>
              <a:t>      "visualization": "outputs\\batch_v2\\1260_q_fig2\\cv\\bind_point_labels.png",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"detect_right_angle_marker",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"roi": [</a:t>
            </a:r>
          </a:p>
          <a:p xmlns:a="http://schemas.openxmlformats.org/drawingml/2006/main">
            <a:r>
              <a:t>          0,</a:t>
            </a:r>
          </a:p>
          <a:p xmlns:a="http://schemas.openxmlformats.org/drawingml/2006/main">
            <a:r>
              <a:t>          0,</a:t>
            </a:r>
          </a:p>
          <a:p xmlns:a="http://schemas.openxmlformats.org/drawingml/2006/main">
            <a:r>
              <a:t>          1,</a:t>
            </a:r>
          </a:p>
          <a:p xmlns:a="http://schemas.openxmlformats.org/drawingml/2006/main">
            <a:r>
              <a:t>          1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"purpose": null,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0,</a:t>
            </a:r>
          </a:p>
          <a:p xmlns:a="http://schemas.openxmlformats.org/drawingml/2006/main">
            <a:r>
              <a:t>      "visualization": "outputs\\batch_v2\\1260_q_fig2\\detect_right_angle_marker.png",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"analyze_line_style",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"segments":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"a": [</a:t>
            </a:r>
          </a:p>
          <a:p xmlns:a="http://schemas.openxmlformats.org/drawingml/2006/main">
            <a:r>
              <a:t>              68.5,</a:t>
            </a:r>
          </a:p>
          <a:p xmlns:a="http://schemas.openxmlformats.org/drawingml/2006/main">
            <a:r>
              <a:t>              59.6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"b": [</a:t>
            </a:r>
          </a:p>
          <a:p xmlns:a="http://schemas.openxmlformats.org/drawingml/2006/main">
            <a:r>
              <a:t>              68.5,</a:t>
            </a:r>
          </a:p>
          <a:p xmlns:a="http://schemas.openxmlformats.org/drawingml/2006/main">
            <a:r>
              <a:t>              257.4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"a": [</a:t>
            </a:r>
          </a:p>
          <a:p xmlns:a="http://schemas.openxmlformats.org/drawingml/2006/main">
            <a:r>
              <a:t>              66.6,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"b": [</a:t>
            </a:r>
          </a:p>
          <a:p xmlns:a="http://schemas.openxmlformats.org/drawingml/2006/main">
            <a:r>
              <a:t>              200.4,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"a": [</a:t>
            </a:r>
          </a:p>
          <a:p xmlns:a="http://schemas.openxmlformats.org/drawingml/2006/main">
            <a:r>
              <a:t>              148,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"b": [</a:t>
            </a:r>
          </a:p>
          <a:p xmlns:a="http://schemas.openxmlformats.org/drawingml/2006/main">
            <a:r>
              <a:t>              643,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"purpose": null,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3,</a:t>
            </a:r>
          </a:p>
          <a:p xmlns:a="http://schemas.openxmlformats.org/drawingml/2006/main">
            <a:r>
              <a:t>      "visualization": "outputs\\batch_v2\\1260_q_fig2\\analyze_line_style.png",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6.xml" Id="R4631e955766344e9" /><ns0:Relationship Type="http://schemas.openxmlformats.org/officeDocument/2006/relationships/image" Target="../media/flow3_image.png" Id="R3cf5cbd860854f25" /><ns0:Relationship Type="http://schemas.openxmlformats.org/officeDocument/2006/relationships/image" Target="../media/flow3_image2.png" Id="Rdb0a5fabd5324e99" /><ns0:Relationship Type="http://schemas.openxmlformats.org/officeDocument/2006/relationships/image" Target="../media/flow3_image3.png" Id="Ra14a20961b844bcc" /><ns0:Relationship Type="http://schemas.openxmlformats.org/officeDocument/2006/relationships/notesSlide" Target="../notesSlides/notesSlide3.xml" Id="Rdde26740d6354f30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45" name="肘形连接符 44"/>
          <p:cNvCxnSpPr>
            <a:stCxn id="26" idx="1"/>
            <a:endCxn id="34" idx="3"/>
          </p:cNvCxnSpPr>
          <p:nvPr/>
        </p:nvCxnSpPr>
        <p:spPr>
          <a:xfrm flipH="1">
            <a:off x="10944225" y="4848225"/>
            <a:ext cx="733425" cy="2028825"/>
          </a:xfrm>
          <a:prstGeom prst="bentConnector3">
            <a:avLst>
              <a:gd name="adj1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44" name="直接箭头连接符 43"/>
          <p:cNvCxnSpPr>
            <a:stCxn id="40" idx="0"/>
            <a:endCxn id="26" idx="2"/>
          </p:cNvCxnSpPr>
          <p:nvPr/>
        </p:nvCxnSpPr>
        <p:spPr>
          <a:xfrm flipV="1">
            <a:off x="13154025" y="5467350"/>
            <a:ext cx="0" cy="838200"/>
          </a:xfrm>
          <a:prstGeom prst="straightConnector1">
            <a:avLst/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43" name="肘形连接符 42"/>
          <p:cNvCxnSpPr>
            <a:stCxn id="23" idx="2"/>
            <a:endCxn id="40" idx="1"/>
          </p:cNvCxnSpPr>
          <p:nvPr/>
        </p:nvCxnSpPr>
        <p:spPr>
          <a:xfrm>
            <a:off x="9467850" y="5467350"/>
            <a:ext cx="2209800" cy="1409700"/>
          </a:xfrm>
          <a:prstGeom prst="bentConnector5">
            <a:avLst>
              <a:gd name="adj1" fmla="val 0"/>
              <a:gd name="adj2" fmla="val 16216"/>
              <a:gd name="adj3" fmla="val 89655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39" name="肘形连接符 38"/>
          <p:cNvCxnSpPr>
            <a:stCxn id="23" idx="2"/>
            <a:endCxn id="34" idx="0"/>
          </p:cNvCxnSpPr>
          <p:nvPr/>
        </p:nvCxnSpPr>
        <p:spPr>
          <a:xfrm flipH="1">
            <a:off x="5776913" y="5467350"/>
            <a:ext cx="3690938" cy="838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38" name="肘形连接符 37"/>
          <p:cNvCxnSpPr>
            <a:stCxn id="20" idx="2"/>
            <a:endCxn id="34" idx="0"/>
          </p:cNvCxnSpPr>
          <p:nvPr/>
        </p:nvCxnSpPr>
        <p:spPr>
          <a:xfrm>
            <a:off x="5772150" y="5467350"/>
            <a:ext cx="4763" cy="838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37" name="肘形连接符 36"/>
          <p:cNvCxnSpPr>
            <a:stCxn id="17" idx="2"/>
            <a:endCxn id="34" idx="0"/>
          </p:cNvCxnSpPr>
          <p:nvPr/>
        </p:nvCxnSpPr>
        <p:spPr>
          <a:xfrm>
            <a:off x="2085975" y="5467350"/>
            <a:ext cx="3690938" cy="838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17F78"/>
            </a:solidFill>
            <a:prstDash val="dash"/>
            <a:tailEnd type="triangle" w="sm" len="sm"/>
          </a:ln>
        </p:spPr>
      </p:cxnSp>
      <p:cxnSp>
        <p:nvCxnSpPr>
          <p:cNvPr id="32" name="肘形连接符 31"/>
          <p:cNvCxnSpPr>
            <a:stCxn id="9" idx="2"/>
            <a:endCxn id="26" idx="0"/>
          </p:cNvCxnSpPr>
          <p:nvPr/>
        </p:nvCxnSpPr>
        <p:spPr>
          <a:xfrm>
            <a:off x="7534275" y="3295650"/>
            <a:ext cx="5619750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31" name="肘形连接符 30"/>
          <p:cNvCxnSpPr>
            <a:stCxn id="9" idx="2"/>
            <a:endCxn id="23" idx="0"/>
          </p:cNvCxnSpPr>
          <p:nvPr/>
        </p:nvCxnSpPr>
        <p:spPr>
          <a:xfrm>
            <a:off x="7534275" y="3295650"/>
            <a:ext cx="1933575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30" name="肘形连接符 29"/>
          <p:cNvCxnSpPr>
            <a:stCxn id="9" idx="2"/>
            <a:endCxn id="20" idx="0"/>
          </p:cNvCxnSpPr>
          <p:nvPr/>
        </p:nvCxnSpPr>
        <p:spPr>
          <a:xfrm flipH="1">
            <a:off x="5772150" y="3295650"/>
            <a:ext cx="1762125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29" name="肘形连接符 28"/>
          <p:cNvCxnSpPr>
            <a:stCxn id="9" idx="2"/>
            <a:endCxn id="17" idx="0"/>
          </p:cNvCxnSpPr>
          <p:nvPr/>
        </p:nvCxnSpPr>
        <p:spPr>
          <a:xfrm flipH="1">
            <a:off x="2085975" y="3295650"/>
            <a:ext cx="5448300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16" name="肘形连接符 15"/>
          <p:cNvCxnSpPr>
            <a:stCxn id="9" idx="3"/>
            <a:endCxn id="12" idx="1"/>
          </p:cNvCxnSpPr>
          <p:nvPr/>
        </p:nvCxnSpPr>
        <p:spPr>
          <a:xfrm>
            <a:off x="10772775" y="2638425"/>
            <a:ext cx="962025" cy="38100"/>
          </a:xfrm>
          <a:prstGeom prst="bentConnector3">
            <a:avLst>
              <a:gd name="adj1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cxnSp>
        <p:nvCxnSpPr>
          <p:cNvPr id="15" name="肘形连接符 14"/>
          <p:cNvCxnSpPr>
            <a:stCxn id="6" idx="3"/>
            <a:endCxn id="9" idx="1"/>
          </p:cNvCxnSpPr>
          <p:nvPr/>
        </p:nvCxnSpPr>
        <p:spPr>
          <a:xfrm flipV="1">
            <a:off x="3324225" y="2638425"/>
            <a:ext cx="971550" cy="19050"/>
          </a:xfrm>
          <a:prstGeom prst="bentConnector3">
            <a:avLst>
              <a:gd name="adj1" fmla="val 50000"/>
            </a:avLst>
          </a:prstGeom>
          <a:ln w="19050">
            <a:solidFill>
              <a:srgbClr val="205EAB"/>
            </a:solidFill>
            <a:prstDash val="solid"/>
            <a:tailEnd type="triangle" w="sm" len="sm"/>
          </a:ln>
        </p:spPr>
      </p:cxnSp>
      <p:sp>
        <p:nvSpPr>
          <p:cNvPr id="48" name="矩形 47"/>
          <p:cNvSpPr>
            <a:spLocks noGrp="1"/>
          </p:cNvSpPr>
          <p:nvPr/>
        </p:nvSpPr>
        <p:spPr>
          <a:xfrm>
            <a:off x="609600" y="400050"/>
            <a:ext cx="13811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GeoAgent 系统架构</a:t>
            </a:r>
            <a:endParaRPr sz="3150" b="1">
              <a:solidFill>
                <a:srgbClr val="16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10490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输入几何图像，逐步提取证据并生成 TikZ，经编译和视觉评审后保留最佳版本</a:t>
            </a:r>
            <a:endParaRPr sz="1725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09600" y="1600200"/>
            <a:ext cx="14020800" cy="0"/>
          </a:xfrm>
          <a:prstGeom prst="line">
            <a:avLst/>
          </a:prstGeom>
          <a:ln w="13335">
            <a:solidFill>
              <a:srgbClr val="CFDAE4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085975"/>
            <a:ext cx="2714625" cy="114300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228850"/>
            <a:ext cx="23717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输入图像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667000"/>
            <a:ext cx="23717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TriGeoBench / 上传图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295775" y="1981200"/>
            <a:ext cx="6477000" cy="1314450"/>
          </a:xfrm>
          <a:prstGeom prst="rect">
            <a:avLst/>
          </a:prstGeom>
          <a:solidFill>
            <a:srgbClr val="162A40"/>
          </a:solidFill>
          <a:ln w="15240">
            <a:solidFill>
              <a:srgbClr val="162A40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67225" y="2124075"/>
            <a:ext cx="61341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Supervisor 主 Agent</a:t>
            </a:r>
            <a:endParaRPr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67225" y="2562225"/>
            <a:ext cx="61341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E2EAF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每步一个动作，依据 GES 与工具反馈选择下一步</a:t>
            </a:r>
            <a:endParaRPr sz="1650" b="0">
              <a:solidFill>
                <a:srgbClr val="E2EAF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734800" y="2047875"/>
            <a:ext cx="2895600" cy="1257300"/>
          </a:xfrm>
          <a:prstGeom prst="rect">
            <a:avLst/>
          </a:prstGeom>
          <a:solidFill>
            <a:srgbClr val="EBF3FA"/>
          </a:solidFill>
          <a:ln w="15240">
            <a:solidFill>
              <a:srgbClr val="117F78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906250" y="2190750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最佳版本归档</a:t>
            </a:r>
            <a:endParaRPr sz="2025" b="1">
              <a:solidFill>
                <a:srgbClr val="11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906250" y="2628900"/>
            <a:ext cx="2552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best.tex / PDF / PNG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评审报告与运行轨迹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 CV 工具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线段、圆弧、标签绑定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直角标记、虚实线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295775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467225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Geometry Agent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467225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 CV 并整合几何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对象、关系与冲突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991475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162925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TikZ Agent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162925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generate / repair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输出完整 LaTeX 源码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677650" y="4229100"/>
            <a:ext cx="2952750" cy="123825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1849100" y="43719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Critic Agent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849100" y="4810125"/>
            <a:ext cx="26098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原图与渲染图对照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输出问题与修复建议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09600" y="6305550"/>
            <a:ext cx="10334625" cy="1143000"/>
          </a:xfrm>
          <a:prstGeom prst="rect">
            <a:avLst/>
          </a:prstGeom>
          <a:solidFill>
            <a:srgbClr val="EBF3FA"/>
          </a:solidFill>
          <a:ln w="15240">
            <a:solidFill>
              <a:srgbClr val="117F78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81050" y="6448425"/>
            <a:ext cx="99917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1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GES 共享几何证据状态</a:t>
            </a:r>
            <a:endParaRPr sz="2025" b="1">
              <a:solidFill>
                <a:srgbClr val="117F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81050" y="6886575"/>
            <a:ext cx="99917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 / 关系 / 证据 / 标签 / 冲突 / 版本 / 编译结果 / Critic 报告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1677650" y="6305550"/>
            <a:ext cx="2952750" cy="1143000"/>
          </a:xfrm>
          <a:prstGeom prst="rect">
            <a:avLst/>
          </a:prstGeom>
          <a:solidFill>
            <a:srgbClr val="EBF3FA"/>
          </a:solidFill>
          <a:ln w="15240">
            <a:solidFill>
              <a:srgbClr val="205EAB"/>
            </a:solidFill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1849100" y="644842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5EA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自动编译与校验</a:t>
            </a:r>
            <a:endParaRPr sz="2025" b="1">
              <a:solidFill>
                <a:srgbClr val="205EA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1849100" y="6886575"/>
            <a:ext cx="26098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Tectonic 编译、PNG 渲染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结构检查后交 Critic</a:t>
            </a:r>
            <a:endParaRPr sz="1650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09600" y="400050"/>
            <a:ext cx="13811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16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 Agent 的六类动作空间</a:t>
            </a:r>
            <a:endParaRPr sz="3150" b="1">
              <a:solidFill>
                <a:srgbClr val="162A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10490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264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Supervisor 每轮只执行一个动作，返回结果用于更新 GES 或下一轮上下文</a:t>
            </a:r>
            <a:endParaRPr sz="1725" b="0">
              <a:solidFill>
                <a:srgbClr val="5264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09600" y="1600200"/>
            <a:ext cx="14020800" cy="0"/>
          </a:xfrm>
          <a:prstGeom prst="line">
            <a:avLst/>
          </a:prstGeom>
          <a:ln w="13335">
            <a:solidFill>
              <a:srgbClr val="CFDAE4"/>
            </a:solidFill>
          </a:ln>
        </p:spPr>
      </p:sp>
      <p:graphicFrame>
        <p:nvGraphicFramePr>
          <p:cNvPr id="6" name="表格 5"/>
          <p:cNvGraphicFramePr/>
          <p:nvPr/>
        </p:nvGraphicFramePr>
        <p:xfrm>
          <a:off x="609600" y="1933575"/>
          <a:ext cx="14020800" cy="5410200"/>
        </p:xfrm>
        <a:graphic>
          <a:graphicData uri="http://schemas.openxmlformats.org/drawingml/2006/table">
            <a:tbl>
              <a:tblPr/>
              <a:tblGrid>
                <a:gridCol w="2781300"/>
                <a:gridCol w="3867150"/>
                <a:gridCol w="4667250"/>
                <a:gridCol w="2705100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动作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T w="9525">
                      <a:solidFill>
                        <a:srgbClr val="CFDAE4"/>
                      </a:solidFill>
                      <a:prstDash val="solid"/>
                    </a:lnT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16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T w="9525">
                      <a:solidFill>
                        <a:srgbClr val="CFDAE4"/>
                      </a:solidFill>
                      <a:prstDash val="solid"/>
                    </a:lnT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16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 / 状态变化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T w="9525">
                      <a:solidFill>
                        <a:srgbClr val="CFDAE4"/>
                      </a:solidFill>
                      <a:prstDash val="solid"/>
                    </a:lnT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162A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作用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T w="9525">
                      <a:solidFill>
                        <a:srgbClr val="CFDAE4"/>
                      </a:solidFill>
                      <a:prstDash val="solid"/>
                    </a:lnT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162A40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call_cv_tool</a:t>
                      </a:r>
                      <a:endParaRPr sz="1575" b="1">
                        <a:solidFill>
                          <a:srgbClr val="205EA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tool_name、params、purpose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如 detect_lines、ROI 等参数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检测结果、坐标、置信证据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自动写入 GES，返回压缩摘要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获取可量化的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局部几何证据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inspect_image</a:t>
                      </a:r>
                      <a:endParaRPr sz="1575" b="1">
                        <a:solidFill>
                          <a:srgbClr val="205EA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question、可选 region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查看原图或指定局部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原图 / ROI 附到下一条用户消息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返回 region_id、裁剪范围等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补充视觉理解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消耗视觉预算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run_geometry_agent</a:t>
                      </a:r>
                      <a:endParaRPr sz="1575" b="1">
                        <a:solidFill>
                          <a:srgbClr val="205EA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instruction、可选 use_image / roi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自动读取 GES 摘要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submit_geometry：对象、关系、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冲突、未决项，合并到 GES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整合证据与几何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可继续调用 CV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run_tikz_agent</a:t>
                      </a:r>
                      <a:endParaRPr sz="1575" b="1">
                        <a:solidFill>
                          <a:srgbClr val="205EA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mode、instruction、可选 use_image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GES，修复时含旧源码与反馈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 tex；自动编译 / 渲染 / 校验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返回版本号、PNG、错误与状态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生成首版或修复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落实为可编译代码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run_critic</a:t>
                      </a:r>
                      <a:endParaRPr sz="1575" b="1">
                        <a:solidFill>
                          <a:srgbClr val="205EA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可选 focus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自动取原图、最新成功渲染与 GES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issues、checks、assessment_score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must_repair，更新最佳版本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定位遗漏与偏差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决定是否需修复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05EA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finish</a:t>
                      </a:r>
                      <a:endParaRPr sz="1575" b="1">
                        <a:solidFill>
                          <a:srgbClr val="205EA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L w="9525">
                      <a:solidFill>
                        <a:srgbClr val="CFDAE4"/>
                      </a:solidFill>
                      <a:prstDash val="solid"/>
                    </a:lnL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summary、可选 unresolved / status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status: success / partial / blocked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best_version、best_score、status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记录总结与未决项，结束运行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提交最终结果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50">
                          <a:solidFill>
                            <a:srgbClr val="16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经过收尾门控</a:t>
                      </a:r>
                      <a:endParaRPr sz="1650">
                        <a:solidFill>
                          <a:srgbClr val="162A4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14300" marT="38100" marB="38100" anchor="ctr">
                    <a:lnR w="9525">
                      <a:solidFill>
                        <a:srgbClr val="CFDAE4"/>
                      </a:solidFill>
                      <a:prstDash val="solid"/>
                    </a:lnR>
                    <a:lnB w="9525">
                      <a:solidFill>
                        <a:srgbClr val="CFDAE4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FC6A51-52D1-409B-8365-D68F640E7A38}"/>
              </a:ext>
            </a:extLst>
          </p:cNvPr>
          <p:cNvCxnSpPr>
            <a:stCxn xmlns:a="http://schemas.openxmlformats.org/drawingml/2006/main" id="18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4343400" y="54483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17F78"/>
            </a:solidFill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1CD466-AB25-4D6D-9E77-05FD9D6A8A2C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9486900" y="54483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F5B22"/>
            </a:solidFill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B4B4BB-894E-45E0-9995-86806600F777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2763500" y="3886200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05EAB"/>
            </a:solidFill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A6106F-27F9-47A0-B34E-AD6790AB859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486900" y="325755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05EAB"/>
            </a:solidFill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2593E-F614-47CF-AD1F-AF10D7D9621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343400" y="325755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05EAB"/>
            </a:solidFill>
            <a:tailEnd type="triangl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E63601-E2CA-4FAE-9A29-3EEEC1AC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1260_q_fig2：取证、生成与修复流程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1FCE6-5507-4E1F-9EBD-50D4C38D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400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8 个主 Agent 步骤；关键问题是 G 未绑定，首版遗漏 FG 虚线与 G 标签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46EF3-C79D-4539-93C6-E63984D6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4020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CFDAE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FED40-9E59-4CE6-9DFA-17972AC3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381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Supervisor 逐步调度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C98FE-F9EE-4106-A57D-9DF79FE2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rPr>
              <a:t>每步结果回传主 Agent；GES 共享记录点线、关系、未决项与版本评审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14664-FD75-40D2-B5F4-41DAB420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BF3FA"/>
          </a:solidFill>
          <a:ln xmlns:a="http://schemas.openxmlformats.org/drawingml/2006/main" w="14288">
            <a:solidFill>
              <a:srgbClr val="205EA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3FC23-1684-4712-BCEF-8286DAB7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rPr>
              <a:t>①–②  本地 CV 取证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746AE-227C-4316-8DEA-2ECD8223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detect_lines + bind_point_labels</a:t>
            </a:r>
          </a:p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8 条线段；A～F 已绑定，G 未绑定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FFD2B-CE11-40CE-AE0A-65725524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2890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BF3FA"/>
          </a:solidFill>
          <a:ln xmlns:a="http://schemas.openxmlformats.org/drawingml/2006/main" w="14288">
            <a:solidFill>
              <a:srgbClr val="205EA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CC652-0519-42B1-AA12-6F36B3D3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622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rPr>
              <a:t>③  Geometry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E7563-6826-4389-A1FC-1776FF89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7182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指令 + GES；补查直角与线型</a:t>
            </a:r>
          </a:p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提交几何 JSON：14 对象、5 关系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24D23-6DCA-45DF-B674-07623FEC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62890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BF3FA"/>
          </a:solidFill>
          <a:ln xmlns:a="http://schemas.openxmlformats.org/drawingml/2006/main" w="14288">
            <a:solidFill>
              <a:srgbClr val="205EA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280D6-A60E-4BF9-93E2-D601C1E4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7622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rPr>
              <a:t>④  TikZ Agent · generate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1DB20-3112-46E0-8554-BB13C03B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17182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绘图指令 + GES + 风格参数</a:t>
            </a:r>
          </a:p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完整 tex；自动编译、渲染与校验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8F0FD-7026-48D9-8844-06901257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81965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AF5B2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17348-3C4B-48F8-A7F4-B0518FA9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95300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rPr>
              <a:t>⑤  Critic 首轮评审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09E97-25F3-4580-8567-81942636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36257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原图 + v1 + GES / 核对清单</a:t>
            </a:r>
          </a:p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遗漏 FG 与 G，必须修复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8ED94-A38E-4A83-A83C-CF5CBD25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1965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BF3FA"/>
          </a:solidFill>
          <a:ln xmlns:a="http://schemas.openxmlformats.org/drawingml/2006/main" w="14288">
            <a:solidFill>
              <a:srgbClr val="205EA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2170A-5E2A-42E3-9811-EE0B60A1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95300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rPr>
              <a:t>⑥  TikZ Agent · repair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9558C-C3B5-4978-A8CF-B082AFB6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6257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修复指令 + v1 源码 + Critic 问题</a:t>
            </a:r>
          </a:p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补 FG 与 G，重新编译 / 渲染 / 校验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B91924-8479-4E84-967C-C8D8FD6D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7F5"/>
          </a:solidFill>
          <a:ln xmlns:a="http://schemas.openxmlformats.org/drawingml/2006/main" w="14288">
            <a:solidFill>
              <a:srgbClr val="117F7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0F3516-6522-4980-9E81-40CDD042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rPr>
              <a:t>⑦–⑧  复评与 finish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A7485E-C7C2-467F-A858-BA4BBA15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6257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原图与 v2 复评通过，选择 v2</a:t>
            </a:r>
          </a:p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finish 成功，归档源码 / PDF / PNG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4C2D4B-F3C5-447F-B03F-11C733DF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114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点线坐标</a:t>
            </a:r>
          </a:p>
          <a:p xmlns:a="http://schemas.openxmlformats.org/drawingml/2006/main">
            <a: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标签绑定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110DF5-4F1E-4C95-A588-E6CAC35A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114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几何结构</a:t>
            </a:r>
          </a:p>
          <a:p xmlns:a="http://schemas.openxmlformats.org/drawingml/2006/main">
            <a: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仍缺 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5C225D-9B30-4C07-B585-B3127164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229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v1 渲染图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953AD8-808E-4A26-9E13-3325FEF8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85775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rPr>
              <a:t>两项遗漏</a:t>
            </a:r>
          </a:p>
          <a:p xmlns:a="http://schemas.openxmlformats.org/drawingml/2006/main">
            <a: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rPr>
              <a:t>G≈(448,254)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9539D3-EC70-44EE-A7EE-3BC6455D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1304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rPr>
              <a:t>v2 渲染图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C57EA2-A145-4DB7-90E5-148F29BD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原始输入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50F8B4-064F-4DC4-8021-C541DF6D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4389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rPr>
              <a:t>v1：遗漏 FG 与 G，评分 0.85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A436AD-1AAF-4AE5-A4D9-F0126538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389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rPr>
              <a:t>v2：补全后，评分 0.93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5B0720-4CF0-44ED-BF43-65BC7676DA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5cbd860854f25"/>
          <a:stretch xmlns:a="http://schemas.openxmlformats.org/drawingml/2006/main"/>
        </p:blipFill>
        <p:spPr>
          <a:xfrm xmlns:a="http://schemas.openxmlformats.org/drawingml/2006/main">
            <a:off x="1039044" y="6753225"/>
            <a:ext cx="2874913" cy="1304925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14D2D2-E0C1-4D52-8784-922A11D763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a5fabd5324e99"/>
          <a:stretch xmlns:a="http://schemas.openxmlformats.org/drawingml/2006/main"/>
        </p:blipFill>
        <p:spPr>
          <a:xfrm xmlns:a="http://schemas.openxmlformats.org/drawingml/2006/main">
            <a:off x="6182544" y="6753225"/>
            <a:ext cx="2874913" cy="1304925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A1B31A-69CA-47D5-894A-FA2D88FEE3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a20961b844bcc"/>
          <a:stretch xmlns:a="http://schemas.openxmlformats.org/drawingml/2006/main"/>
        </p:blipFill>
        <p:spPr>
          <a:xfrm xmlns:a="http://schemas.openxmlformats.org/drawingml/2006/main">
            <a:off x="11326044" y="6753225"/>
            <a:ext cx="2874913" cy="1304925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252A2B-BE6E-4C52-950A-E948FB55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81975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本次仅 Critic 向大模型附图；G 坐标由 Supervisor 沿 AF 外推，未经独立 CV 复核</a:t>
            </a:r>
          </a:p>
        </p:txBody>
      </p:sp>
    </p:spTree>
    <p:extLst>
      <p:ext uri="{BB962C8B-B14F-4D97-AF65-F5344CB8AC3E}">
        <p14:creationId xmlns:p14="http://schemas.microsoft.com/office/powerpoint/2010/main" val="9654585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1664</Words>
  <Application>WPS 演示</Application>
  <PresentationFormat>Converted Presentation</PresentationFormat>
  <Paragraphs>177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陈曦</cp:lastModifiedBy>
  <cp:revision>2</cp:revision>
  <dcterms:created xsi:type="dcterms:W3CDTF">2026-10-31T05:19:17Z</dcterms:created>
  <dcterms:modified xsi:type="dcterms:W3CDTF">2026-10-31T05:46:51Z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78709F63FDED4892BE43AFA0C1D35D03_12</vt:lpwstr>
  </property>
  <property fmtid="{D5CDD505-2E9C-101B-9397-08002B2CF9AE}" pid="3" name="KSOProductBuildVer">
    <vt:lpwstr>2052-12.1.0.29161</vt:lpwstr>
  </property>
</Properties>
</file>